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3"/>
  </p:notesMasterIdLst>
  <p:sldIdLst>
    <p:sldId id="256" r:id="rId2"/>
  </p:sldIdLst>
  <p:sldSz cx="9334500" cy="1320165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25" autoAdjust="0"/>
    <p:restoredTop sz="94664" autoAdjust="0"/>
  </p:normalViewPr>
  <p:slideViewPr>
    <p:cSldViewPr snapToGrid="0">
      <p:cViewPr>
        <p:scale>
          <a:sx n="100" d="100"/>
          <a:sy n="100" d="100"/>
        </p:scale>
        <p:origin x="1088" y="6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2"/>
            <a:ext cx="3962400" cy="344091"/>
          </a:xfrm>
          <a:prstGeom prst="rect">
            <a:avLst/>
          </a:prstGeom>
        </p:spPr>
        <p:txBody>
          <a:bodyPr vert="horz" lIns="91440" tIns="45720" rIns="91440" bIns="45720" rtlCol="0"/>
          <a:lstStyle>
            <a:lvl1pPr algn="r">
              <a:defRPr sz="1200"/>
            </a:lvl1pPr>
          </a:lstStyle>
          <a:p>
            <a:fld id="{06ABDE03-DA63-4AD7-92FC-BDB8CE16B013}" type="datetimeFigureOut">
              <a:rPr lang="en-US" smtClean="0"/>
              <a:t>6/26/2026</a:t>
            </a:fld>
            <a:endParaRPr lang="en-US"/>
          </a:p>
        </p:txBody>
      </p:sp>
      <p:sp>
        <p:nvSpPr>
          <p:cNvPr id="4" name="Slide Image Placeholder 3"/>
          <p:cNvSpPr>
            <a:spLocks noGrp="1" noRot="1" noChangeAspect="1"/>
          </p:cNvSpPr>
          <p:nvPr>
            <p:ph type="sldImg" idx="2"/>
          </p:nvPr>
        </p:nvSpPr>
        <p:spPr>
          <a:xfrm>
            <a:off x="3754438" y="857250"/>
            <a:ext cx="1636712"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C8F52F7-BA84-40C9-B4E5-F9DEFCE003A1}" type="slidenum">
              <a:rPr lang="en-US" smtClean="0"/>
              <a:t>‹#›</a:t>
            </a:fld>
            <a:endParaRPr lang="en-US"/>
          </a:p>
        </p:txBody>
      </p:sp>
    </p:spTree>
    <p:extLst>
      <p:ext uri="{BB962C8B-B14F-4D97-AF65-F5344CB8AC3E}">
        <p14:creationId xmlns:p14="http://schemas.microsoft.com/office/powerpoint/2010/main" val="2354211092"/>
      </p:ext>
    </p:extLst>
  </p:cSld>
  <p:clrMap bg1="lt1" tx1="dk1" bg2="lt2" tx2="dk2" accent1="accent1" accent2="accent2" accent3="accent3" accent4="accent4" accent5="accent5" accent6="accent6" hlink="hlink" folHlink="folHlink"/>
  <p:notesStyle>
    <a:lvl1pPr marL="0" algn="l" defTabSz="1081719" rtl="0" eaLnBrk="1" latinLnBrk="0" hangingPunct="1">
      <a:defRPr sz="1418" kern="1200">
        <a:solidFill>
          <a:schemeClr val="tx1"/>
        </a:solidFill>
        <a:latin typeface="+mn-lt"/>
        <a:ea typeface="+mn-ea"/>
        <a:cs typeface="+mn-cs"/>
      </a:defRPr>
    </a:lvl1pPr>
    <a:lvl2pPr marL="540857" algn="l" defTabSz="1081719" rtl="0" eaLnBrk="1" latinLnBrk="0" hangingPunct="1">
      <a:defRPr sz="1418" kern="1200">
        <a:solidFill>
          <a:schemeClr val="tx1"/>
        </a:solidFill>
        <a:latin typeface="+mn-lt"/>
        <a:ea typeface="+mn-ea"/>
        <a:cs typeface="+mn-cs"/>
      </a:defRPr>
    </a:lvl2pPr>
    <a:lvl3pPr marL="1081719" algn="l" defTabSz="1081719" rtl="0" eaLnBrk="1" latinLnBrk="0" hangingPunct="1">
      <a:defRPr sz="1418" kern="1200">
        <a:solidFill>
          <a:schemeClr val="tx1"/>
        </a:solidFill>
        <a:latin typeface="+mn-lt"/>
        <a:ea typeface="+mn-ea"/>
        <a:cs typeface="+mn-cs"/>
      </a:defRPr>
    </a:lvl3pPr>
    <a:lvl4pPr marL="1622576" algn="l" defTabSz="1081719" rtl="0" eaLnBrk="1" latinLnBrk="0" hangingPunct="1">
      <a:defRPr sz="1418" kern="1200">
        <a:solidFill>
          <a:schemeClr val="tx1"/>
        </a:solidFill>
        <a:latin typeface="+mn-lt"/>
        <a:ea typeface="+mn-ea"/>
        <a:cs typeface="+mn-cs"/>
      </a:defRPr>
    </a:lvl4pPr>
    <a:lvl5pPr marL="2163435" algn="l" defTabSz="1081719" rtl="0" eaLnBrk="1" latinLnBrk="0" hangingPunct="1">
      <a:defRPr sz="1418" kern="1200">
        <a:solidFill>
          <a:schemeClr val="tx1"/>
        </a:solidFill>
        <a:latin typeface="+mn-lt"/>
        <a:ea typeface="+mn-ea"/>
        <a:cs typeface="+mn-cs"/>
      </a:defRPr>
    </a:lvl5pPr>
    <a:lvl6pPr marL="2704293" algn="l" defTabSz="1081719" rtl="0" eaLnBrk="1" latinLnBrk="0" hangingPunct="1">
      <a:defRPr sz="1418" kern="1200">
        <a:solidFill>
          <a:schemeClr val="tx1"/>
        </a:solidFill>
        <a:latin typeface="+mn-lt"/>
        <a:ea typeface="+mn-ea"/>
        <a:cs typeface="+mn-cs"/>
      </a:defRPr>
    </a:lvl6pPr>
    <a:lvl7pPr marL="3245151" algn="l" defTabSz="1081719" rtl="0" eaLnBrk="1" latinLnBrk="0" hangingPunct="1">
      <a:defRPr sz="1418" kern="1200">
        <a:solidFill>
          <a:schemeClr val="tx1"/>
        </a:solidFill>
        <a:latin typeface="+mn-lt"/>
        <a:ea typeface="+mn-ea"/>
        <a:cs typeface="+mn-cs"/>
      </a:defRPr>
    </a:lvl7pPr>
    <a:lvl8pPr marL="3786012" algn="l" defTabSz="1081719" rtl="0" eaLnBrk="1" latinLnBrk="0" hangingPunct="1">
      <a:defRPr sz="1418" kern="1200">
        <a:solidFill>
          <a:schemeClr val="tx1"/>
        </a:solidFill>
        <a:latin typeface="+mn-lt"/>
        <a:ea typeface="+mn-ea"/>
        <a:cs typeface="+mn-cs"/>
      </a:defRPr>
    </a:lvl8pPr>
    <a:lvl9pPr marL="4326869" algn="l" defTabSz="1081719" rtl="0" eaLnBrk="1" latinLnBrk="0" hangingPunct="1">
      <a:defRPr sz="141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00088" y="2160549"/>
            <a:ext cx="7934325" cy="4596130"/>
          </a:xfrm>
        </p:spPr>
        <p:txBody>
          <a:bodyPr anchor="b"/>
          <a:lstStyle>
            <a:lvl1pPr algn="ctr">
              <a:defRPr sz="6125"/>
            </a:lvl1pPr>
          </a:lstStyle>
          <a:p>
            <a:r>
              <a:rPr lang="en-US"/>
              <a:t>Click to edit Master title style</a:t>
            </a:r>
            <a:endParaRPr lang="en-US" dirty="0"/>
          </a:p>
        </p:txBody>
      </p:sp>
      <p:sp>
        <p:nvSpPr>
          <p:cNvPr id="3" name="Subtitle 2"/>
          <p:cNvSpPr>
            <a:spLocks noGrp="1"/>
          </p:cNvSpPr>
          <p:nvPr>
            <p:ph type="subTitle" idx="1"/>
          </p:nvPr>
        </p:nvSpPr>
        <p:spPr>
          <a:xfrm>
            <a:off x="1166813" y="6933923"/>
            <a:ext cx="7000875" cy="3187342"/>
          </a:xfrm>
        </p:spPr>
        <p:txBody>
          <a:bodyPr/>
          <a:lstStyle>
            <a:lvl1pPr marL="0" indent="0" algn="ctr">
              <a:buNone/>
              <a:defRPr sz="2450"/>
            </a:lvl1pPr>
            <a:lvl2pPr marL="466710" indent="0" algn="ctr">
              <a:buNone/>
              <a:defRPr sz="2042"/>
            </a:lvl2pPr>
            <a:lvl3pPr marL="933420" indent="0" algn="ctr">
              <a:buNone/>
              <a:defRPr sz="1837"/>
            </a:lvl3pPr>
            <a:lvl4pPr marL="1400129" indent="0" algn="ctr">
              <a:buNone/>
              <a:defRPr sz="1633"/>
            </a:lvl4pPr>
            <a:lvl5pPr marL="1866839" indent="0" algn="ctr">
              <a:buNone/>
              <a:defRPr sz="1633"/>
            </a:lvl5pPr>
            <a:lvl6pPr marL="2333549" indent="0" algn="ctr">
              <a:buNone/>
              <a:defRPr sz="1633"/>
            </a:lvl6pPr>
            <a:lvl7pPr marL="2800259" indent="0" algn="ctr">
              <a:buNone/>
              <a:defRPr sz="1633"/>
            </a:lvl7pPr>
            <a:lvl8pPr marL="3266968" indent="0" algn="ctr">
              <a:buNone/>
              <a:defRPr sz="1633"/>
            </a:lvl8pPr>
            <a:lvl9pPr marL="3733678" indent="0" algn="ctr">
              <a:buNone/>
              <a:defRPr sz="16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422D9C-23B1-4256-B082-888C2E6AA490}"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DDB521-16F5-4035-AA98-CCD561CA1DA0}" type="slidenum">
              <a:rPr lang="en-US" smtClean="0"/>
              <a:t>‹#›</a:t>
            </a:fld>
            <a:endParaRPr lang="en-US"/>
          </a:p>
        </p:txBody>
      </p:sp>
    </p:spTree>
    <p:extLst>
      <p:ext uri="{BB962C8B-B14F-4D97-AF65-F5344CB8AC3E}">
        <p14:creationId xmlns:p14="http://schemas.microsoft.com/office/powerpoint/2010/main" val="54116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422D9C-23B1-4256-B082-888C2E6AA490}"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DDB521-16F5-4035-AA98-CCD561CA1DA0}" type="slidenum">
              <a:rPr lang="en-US" smtClean="0"/>
              <a:t>‹#›</a:t>
            </a:fld>
            <a:endParaRPr lang="en-US"/>
          </a:p>
        </p:txBody>
      </p:sp>
    </p:spTree>
    <p:extLst>
      <p:ext uri="{BB962C8B-B14F-4D97-AF65-F5344CB8AC3E}">
        <p14:creationId xmlns:p14="http://schemas.microsoft.com/office/powerpoint/2010/main" val="4123325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36886" y="3291248"/>
            <a:ext cx="8051006" cy="5491519"/>
          </a:xfrm>
        </p:spPr>
        <p:txBody>
          <a:bodyPr anchor="b"/>
          <a:lstStyle>
            <a:lvl1pPr>
              <a:defRPr sz="6125"/>
            </a:lvl1pPr>
          </a:lstStyle>
          <a:p>
            <a:r>
              <a:rPr lang="en-US"/>
              <a:t>Click to edit Master title style</a:t>
            </a:r>
            <a:endParaRPr lang="en-US" dirty="0"/>
          </a:p>
        </p:txBody>
      </p:sp>
      <p:sp>
        <p:nvSpPr>
          <p:cNvPr id="3" name="Text Placeholder 2"/>
          <p:cNvSpPr>
            <a:spLocks noGrp="1"/>
          </p:cNvSpPr>
          <p:nvPr>
            <p:ph type="body" idx="1"/>
          </p:nvPr>
        </p:nvSpPr>
        <p:spPr>
          <a:xfrm>
            <a:off x="636886" y="8834719"/>
            <a:ext cx="8051006" cy="2887860"/>
          </a:xfrm>
        </p:spPr>
        <p:txBody>
          <a:bodyPr/>
          <a:lstStyle>
            <a:lvl1pPr marL="0" indent="0">
              <a:buNone/>
              <a:defRPr sz="2450">
                <a:solidFill>
                  <a:schemeClr val="tx1">
                    <a:tint val="82000"/>
                  </a:schemeClr>
                </a:solidFill>
              </a:defRPr>
            </a:lvl1pPr>
            <a:lvl2pPr marL="466710" indent="0">
              <a:buNone/>
              <a:defRPr sz="2042">
                <a:solidFill>
                  <a:schemeClr val="tx1">
                    <a:tint val="82000"/>
                  </a:schemeClr>
                </a:solidFill>
              </a:defRPr>
            </a:lvl2pPr>
            <a:lvl3pPr marL="933420" indent="0">
              <a:buNone/>
              <a:defRPr sz="1837">
                <a:solidFill>
                  <a:schemeClr val="tx1">
                    <a:tint val="82000"/>
                  </a:schemeClr>
                </a:solidFill>
              </a:defRPr>
            </a:lvl3pPr>
            <a:lvl4pPr marL="1400129" indent="0">
              <a:buNone/>
              <a:defRPr sz="1633">
                <a:solidFill>
                  <a:schemeClr val="tx1">
                    <a:tint val="82000"/>
                  </a:schemeClr>
                </a:solidFill>
              </a:defRPr>
            </a:lvl4pPr>
            <a:lvl5pPr marL="1866839" indent="0">
              <a:buNone/>
              <a:defRPr sz="1633">
                <a:solidFill>
                  <a:schemeClr val="tx1">
                    <a:tint val="82000"/>
                  </a:schemeClr>
                </a:solidFill>
              </a:defRPr>
            </a:lvl5pPr>
            <a:lvl6pPr marL="2333549" indent="0">
              <a:buNone/>
              <a:defRPr sz="1633">
                <a:solidFill>
                  <a:schemeClr val="tx1">
                    <a:tint val="82000"/>
                  </a:schemeClr>
                </a:solidFill>
              </a:defRPr>
            </a:lvl6pPr>
            <a:lvl7pPr marL="2800259" indent="0">
              <a:buNone/>
              <a:defRPr sz="1633">
                <a:solidFill>
                  <a:schemeClr val="tx1">
                    <a:tint val="82000"/>
                  </a:schemeClr>
                </a:solidFill>
              </a:defRPr>
            </a:lvl7pPr>
            <a:lvl8pPr marL="3266968" indent="0">
              <a:buNone/>
              <a:defRPr sz="1633">
                <a:solidFill>
                  <a:schemeClr val="tx1">
                    <a:tint val="82000"/>
                  </a:schemeClr>
                </a:solidFill>
              </a:defRPr>
            </a:lvl8pPr>
            <a:lvl9pPr marL="3733678" indent="0">
              <a:buNone/>
              <a:defRPr sz="163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422D9C-23B1-4256-B082-888C2E6AA490}"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DDB521-16F5-4035-AA98-CCD561CA1DA0}" type="slidenum">
              <a:rPr lang="en-US" smtClean="0"/>
              <a:t>‹#›</a:t>
            </a:fld>
            <a:endParaRPr lang="en-US"/>
          </a:p>
        </p:txBody>
      </p:sp>
    </p:spTree>
    <p:extLst>
      <p:ext uri="{BB962C8B-B14F-4D97-AF65-F5344CB8AC3E}">
        <p14:creationId xmlns:p14="http://schemas.microsoft.com/office/powerpoint/2010/main" val="1986130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41747" y="3514328"/>
            <a:ext cx="3967163" cy="83763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25590" y="3514328"/>
            <a:ext cx="3967163" cy="83763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422D9C-23B1-4256-B082-888C2E6AA490}"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DDB521-16F5-4035-AA98-CCD561CA1DA0}" type="slidenum">
              <a:rPr lang="en-US" smtClean="0"/>
              <a:t>‹#›</a:t>
            </a:fld>
            <a:endParaRPr lang="en-US"/>
          </a:p>
        </p:txBody>
      </p:sp>
    </p:spTree>
    <p:extLst>
      <p:ext uri="{BB962C8B-B14F-4D97-AF65-F5344CB8AC3E}">
        <p14:creationId xmlns:p14="http://schemas.microsoft.com/office/powerpoint/2010/main" val="3504717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42963" y="702868"/>
            <a:ext cx="8051006" cy="2551709"/>
          </a:xfrm>
        </p:spPr>
        <p:txBody>
          <a:bodyPr/>
          <a:lstStyle/>
          <a:p>
            <a:r>
              <a:rPr lang="en-US"/>
              <a:t>Click to edit Master title style</a:t>
            </a:r>
            <a:endParaRPr lang="en-US" dirty="0"/>
          </a:p>
        </p:txBody>
      </p:sp>
      <p:sp>
        <p:nvSpPr>
          <p:cNvPr id="3" name="Text Placeholder 2"/>
          <p:cNvSpPr>
            <a:spLocks noGrp="1"/>
          </p:cNvSpPr>
          <p:nvPr>
            <p:ph type="body" idx="1"/>
          </p:nvPr>
        </p:nvSpPr>
        <p:spPr>
          <a:xfrm>
            <a:off x="642964" y="3236239"/>
            <a:ext cx="3948930" cy="1586031"/>
          </a:xfrm>
        </p:spPr>
        <p:txBody>
          <a:bodyPr anchor="b"/>
          <a:lstStyle>
            <a:lvl1pPr marL="0" indent="0">
              <a:buNone/>
              <a:defRPr sz="2450" b="1"/>
            </a:lvl1pPr>
            <a:lvl2pPr marL="466710" indent="0">
              <a:buNone/>
              <a:defRPr sz="2042" b="1"/>
            </a:lvl2pPr>
            <a:lvl3pPr marL="933420" indent="0">
              <a:buNone/>
              <a:defRPr sz="1837" b="1"/>
            </a:lvl3pPr>
            <a:lvl4pPr marL="1400129" indent="0">
              <a:buNone/>
              <a:defRPr sz="1633" b="1"/>
            </a:lvl4pPr>
            <a:lvl5pPr marL="1866839" indent="0">
              <a:buNone/>
              <a:defRPr sz="1633" b="1"/>
            </a:lvl5pPr>
            <a:lvl6pPr marL="2333549" indent="0">
              <a:buNone/>
              <a:defRPr sz="1633" b="1"/>
            </a:lvl6pPr>
            <a:lvl7pPr marL="2800259" indent="0">
              <a:buNone/>
              <a:defRPr sz="1633" b="1"/>
            </a:lvl7pPr>
            <a:lvl8pPr marL="3266968" indent="0">
              <a:buNone/>
              <a:defRPr sz="1633" b="1"/>
            </a:lvl8pPr>
            <a:lvl9pPr marL="3733678" indent="0">
              <a:buNone/>
              <a:defRPr sz="1633" b="1"/>
            </a:lvl9pPr>
          </a:lstStyle>
          <a:p>
            <a:pPr lvl="0"/>
            <a:r>
              <a:rPr lang="en-US"/>
              <a:t>Click to edit Master text styles</a:t>
            </a:r>
          </a:p>
        </p:txBody>
      </p:sp>
      <p:sp>
        <p:nvSpPr>
          <p:cNvPr id="4" name="Content Placeholder 3"/>
          <p:cNvSpPr>
            <a:spLocks noGrp="1"/>
          </p:cNvSpPr>
          <p:nvPr>
            <p:ph sz="half" idx="2"/>
          </p:nvPr>
        </p:nvSpPr>
        <p:spPr>
          <a:xfrm>
            <a:off x="642964" y="4822269"/>
            <a:ext cx="3948930" cy="70928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5591" y="3236239"/>
            <a:ext cx="3968378" cy="1586031"/>
          </a:xfrm>
        </p:spPr>
        <p:txBody>
          <a:bodyPr anchor="b"/>
          <a:lstStyle>
            <a:lvl1pPr marL="0" indent="0">
              <a:buNone/>
              <a:defRPr sz="2450" b="1"/>
            </a:lvl1pPr>
            <a:lvl2pPr marL="466710" indent="0">
              <a:buNone/>
              <a:defRPr sz="2042" b="1"/>
            </a:lvl2pPr>
            <a:lvl3pPr marL="933420" indent="0">
              <a:buNone/>
              <a:defRPr sz="1837" b="1"/>
            </a:lvl3pPr>
            <a:lvl4pPr marL="1400129" indent="0">
              <a:buNone/>
              <a:defRPr sz="1633" b="1"/>
            </a:lvl4pPr>
            <a:lvl5pPr marL="1866839" indent="0">
              <a:buNone/>
              <a:defRPr sz="1633" b="1"/>
            </a:lvl5pPr>
            <a:lvl6pPr marL="2333549" indent="0">
              <a:buNone/>
              <a:defRPr sz="1633" b="1"/>
            </a:lvl6pPr>
            <a:lvl7pPr marL="2800259" indent="0">
              <a:buNone/>
              <a:defRPr sz="1633" b="1"/>
            </a:lvl7pPr>
            <a:lvl8pPr marL="3266968" indent="0">
              <a:buNone/>
              <a:defRPr sz="1633" b="1"/>
            </a:lvl8pPr>
            <a:lvl9pPr marL="3733678" indent="0">
              <a:buNone/>
              <a:defRPr sz="1633" b="1"/>
            </a:lvl9pPr>
          </a:lstStyle>
          <a:p>
            <a:pPr lvl="0"/>
            <a:r>
              <a:rPr lang="en-US"/>
              <a:t>Click to edit Master text styles</a:t>
            </a:r>
          </a:p>
        </p:txBody>
      </p:sp>
      <p:sp>
        <p:nvSpPr>
          <p:cNvPr id="6" name="Content Placeholder 5"/>
          <p:cNvSpPr>
            <a:spLocks noGrp="1"/>
          </p:cNvSpPr>
          <p:nvPr>
            <p:ph sz="quarter" idx="4"/>
          </p:nvPr>
        </p:nvSpPr>
        <p:spPr>
          <a:xfrm>
            <a:off x="4725591" y="4822269"/>
            <a:ext cx="3968378" cy="70928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422D9C-23B1-4256-B082-888C2E6AA490}"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DDB521-16F5-4035-AA98-CCD561CA1DA0}" type="slidenum">
              <a:rPr lang="en-US" smtClean="0"/>
              <a:t>‹#›</a:t>
            </a:fld>
            <a:endParaRPr lang="en-US"/>
          </a:p>
        </p:txBody>
      </p:sp>
    </p:spTree>
    <p:extLst>
      <p:ext uri="{BB962C8B-B14F-4D97-AF65-F5344CB8AC3E}">
        <p14:creationId xmlns:p14="http://schemas.microsoft.com/office/powerpoint/2010/main" val="851560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422D9C-23B1-4256-B082-888C2E6AA490}"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DDB521-16F5-4035-AA98-CCD561CA1DA0}" type="slidenum">
              <a:rPr lang="en-US" smtClean="0"/>
              <a:t>‹#›</a:t>
            </a:fld>
            <a:endParaRPr lang="en-US"/>
          </a:p>
        </p:txBody>
      </p:sp>
    </p:spTree>
    <p:extLst>
      <p:ext uri="{BB962C8B-B14F-4D97-AF65-F5344CB8AC3E}">
        <p14:creationId xmlns:p14="http://schemas.microsoft.com/office/powerpoint/2010/main" val="1226774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422D9C-23B1-4256-B082-888C2E6AA490}"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DDB521-16F5-4035-AA98-CCD561CA1DA0}" type="slidenum">
              <a:rPr lang="en-US" smtClean="0"/>
              <a:t>‹#›</a:t>
            </a:fld>
            <a:endParaRPr lang="en-US"/>
          </a:p>
        </p:txBody>
      </p:sp>
    </p:spTree>
    <p:extLst>
      <p:ext uri="{BB962C8B-B14F-4D97-AF65-F5344CB8AC3E}">
        <p14:creationId xmlns:p14="http://schemas.microsoft.com/office/powerpoint/2010/main" val="1326808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2963" y="880110"/>
            <a:ext cx="3010619" cy="3080385"/>
          </a:xfrm>
        </p:spPr>
        <p:txBody>
          <a:bodyPr anchor="b"/>
          <a:lstStyle>
            <a:lvl1pPr>
              <a:defRPr sz="3267"/>
            </a:lvl1pPr>
          </a:lstStyle>
          <a:p>
            <a:r>
              <a:rPr lang="en-US"/>
              <a:t>Click to edit Master title style</a:t>
            </a:r>
            <a:endParaRPr lang="en-US" dirty="0"/>
          </a:p>
        </p:txBody>
      </p:sp>
      <p:sp>
        <p:nvSpPr>
          <p:cNvPr id="3" name="Content Placeholder 2"/>
          <p:cNvSpPr>
            <a:spLocks noGrp="1"/>
          </p:cNvSpPr>
          <p:nvPr>
            <p:ph idx="1"/>
          </p:nvPr>
        </p:nvSpPr>
        <p:spPr>
          <a:xfrm>
            <a:off x="3968378" y="1900796"/>
            <a:ext cx="4725591" cy="9381728"/>
          </a:xfrm>
        </p:spPr>
        <p:txBody>
          <a:bodyPr/>
          <a:lstStyle>
            <a:lvl1pPr>
              <a:defRPr sz="3267"/>
            </a:lvl1pPr>
            <a:lvl2pPr>
              <a:defRPr sz="2858"/>
            </a:lvl2pPr>
            <a:lvl3pPr>
              <a:defRPr sz="2450"/>
            </a:lvl3pPr>
            <a:lvl4pPr>
              <a:defRPr sz="2042"/>
            </a:lvl4pPr>
            <a:lvl5pPr>
              <a:defRPr sz="2042"/>
            </a:lvl5pPr>
            <a:lvl6pPr>
              <a:defRPr sz="2042"/>
            </a:lvl6pPr>
            <a:lvl7pPr>
              <a:defRPr sz="2042"/>
            </a:lvl7pPr>
            <a:lvl8pPr>
              <a:defRPr sz="2042"/>
            </a:lvl8pPr>
            <a:lvl9pPr>
              <a:defRPr sz="204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2963" y="3960495"/>
            <a:ext cx="3010619" cy="7337307"/>
          </a:xfrm>
        </p:spPr>
        <p:txBody>
          <a:bodyPr/>
          <a:lstStyle>
            <a:lvl1pPr marL="0" indent="0">
              <a:buNone/>
              <a:defRPr sz="1633"/>
            </a:lvl1pPr>
            <a:lvl2pPr marL="466710" indent="0">
              <a:buNone/>
              <a:defRPr sz="1429"/>
            </a:lvl2pPr>
            <a:lvl3pPr marL="933420" indent="0">
              <a:buNone/>
              <a:defRPr sz="1225"/>
            </a:lvl3pPr>
            <a:lvl4pPr marL="1400129" indent="0">
              <a:buNone/>
              <a:defRPr sz="1021"/>
            </a:lvl4pPr>
            <a:lvl5pPr marL="1866839" indent="0">
              <a:buNone/>
              <a:defRPr sz="1021"/>
            </a:lvl5pPr>
            <a:lvl6pPr marL="2333549" indent="0">
              <a:buNone/>
              <a:defRPr sz="1021"/>
            </a:lvl6pPr>
            <a:lvl7pPr marL="2800259" indent="0">
              <a:buNone/>
              <a:defRPr sz="1021"/>
            </a:lvl7pPr>
            <a:lvl8pPr marL="3266968" indent="0">
              <a:buNone/>
              <a:defRPr sz="1021"/>
            </a:lvl8pPr>
            <a:lvl9pPr marL="3733678" indent="0">
              <a:buNone/>
              <a:defRPr sz="1021"/>
            </a:lvl9pPr>
          </a:lstStyle>
          <a:p>
            <a:pPr lvl="0"/>
            <a:r>
              <a:rPr lang="en-US"/>
              <a:t>Click to edit Master text styles</a:t>
            </a:r>
          </a:p>
        </p:txBody>
      </p:sp>
      <p:sp>
        <p:nvSpPr>
          <p:cNvPr id="5" name="Date Placeholder 4"/>
          <p:cNvSpPr>
            <a:spLocks noGrp="1"/>
          </p:cNvSpPr>
          <p:nvPr>
            <p:ph type="dt" sz="half" idx="10"/>
          </p:nvPr>
        </p:nvSpPr>
        <p:spPr/>
        <p:txBody>
          <a:bodyPr/>
          <a:lstStyle/>
          <a:p>
            <a:fld id="{FE422D9C-23B1-4256-B082-888C2E6AA490}"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DDB521-16F5-4035-AA98-CCD561CA1DA0}" type="slidenum">
              <a:rPr lang="en-US" smtClean="0"/>
              <a:t>‹#›</a:t>
            </a:fld>
            <a:endParaRPr lang="en-US"/>
          </a:p>
        </p:txBody>
      </p:sp>
    </p:spTree>
    <p:extLst>
      <p:ext uri="{BB962C8B-B14F-4D97-AF65-F5344CB8AC3E}">
        <p14:creationId xmlns:p14="http://schemas.microsoft.com/office/powerpoint/2010/main" val="1196113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2963" y="880110"/>
            <a:ext cx="3010619" cy="3080385"/>
          </a:xfrm>
        </p:spPr>
        <p:txBody>
          <a:bodyPr anchor="b"/>
          <a:lstStyle>
            <a:lvl1pPr>
              <a:defRPr sz="3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3968378" y="1900796"/>
            <a:ext cx="4725591" cy="9381728"/>
          </a:xfrm>
        </p:spPr>
        <p:txBody>
          <a:bodyPr anchor="t"/>
          <a:lstStyle>
            <a:lvl1pPr marL="0" indent="0">
              <a:buNone/>
              <a:defRPr sz="3267"/>
            </a:lvl1pPr>
            <a:lvl2pPr marL="466710" indent="0">
              <a:buNone/>
              <a:defRPr sz="2858"/>
            </a:lvl2pPr>
            <a:lvl3pPr marL="933420" indent="0">
              <a:buNone/>
              <a:defRPr sz="2450"/>
            </a:lvl3pPr>
            <a:lvl4pPr marL="1400129" indent="0">
              <a:buNone/>
              <a:defRPr sz="2042"/>
            </a:lvl4pPr>
            <a:lvl5pPr marL="1866839" indent="0">
              <a:buNone/>
              <a:defRPr sz="2042"/>
            </a:lvl5pPr>
            <a:lvl6pPr marL="2333549" indent="0">
              <a:buNone/>
              <a:defRPr sz="2042"/>
            </a:lvl6pPr>
            <a:lvl7pPr marL="2800259" indent="0">
              <a:buNone/>
              <a:defRPr sz="2042"/>
            </a:lvl7pPr>
            <a:lvl8pPr marL="3266968" indent="0">
              <a:buNone/>
              <a:defRPr sz="2042"/>
            </a:lvl8pPr>
            <a:lvl9pPr marL="3733678" indent="0">
              <a:buNone/>
              <a:defRPr sz="2042"/>
            </a:lvl9pPr>
          </a:lstStyle>
          <a:p>
            <a:r>
              <a:rPr lang="en-US"/>
              <a:t>Click icon to add picture</a:t>
            </a:r>
            <a:endParaRPr lang="en-US" dirty="0"/>
          </a:p>
        </p:txBody>
      </p:sp>
      <p:sp>
        <p:nvSpPr>
          <p:cNvPr id="4" name="Text Placeholder 3"/>
          <p:cNvSpPr>
            <a:spLocks noGrp="1"/>
          </p:cNvSpPr>
          <p:nvPr>
            <p:ph type="body" sz="half" idx="2"/>
          </p:nvPr>
        </p:nvSpPr>
        <p:spPr>
          <a:xfrm>
            <a:off x="642963" y="3960495"/>
            <a:ext cx="3010619" cy="7337307"/>
          </a:xfrm>
        </p:spPr>
        <p:txBody>
          <a:bodyPr/>
          <a:lstStyle>
            <a:lvl1pPr marL="0" indent="0">
              <a:buNone/>
              <a:defRPr sz="1633"/>
            </a:lvl1pPr>
            <a:lvl2pPr marL="466710" indent="0">
              <a:buNone/>
              <a:defRPr sz="1429"/>
            </a:lvl2pPr>
            <a:lvl3pPr marL="933420" indent="0">
              <a:buNone/>
              <a:defRPr sz="1225"/>
            </a:lvl3pPr>
            <a:lvl4pPr marL="1400129" indent="0">
              <a:buNone/>
              <a:defRPr sz="1021"/>
            </a:lvl4pPr>
            <a:lvl5pPr marL="1866839" indent="0">
              <a:buNone/>
              <a:defRPr sz="1021"/>
            </a:lvl5pPr>
            <a:lvl6pPr marL="2333549" indent="0">
              <a:buNone/>
              <a:defRPr sz="1021"/>
            </a:lvl6pPr>
            <a:lvl7pPr marL="2800259" indent="0">
              <a:buNone/>
              <a:defRPr sz="1021"/>
            </a:lvl7pPr>
            <a:lvl8pPr marL="3266968" indent="0">
              <a:buNone/>
              <a:defRPr sz="1021"/>
            </a:lvl8pPr>
            <a:lvl9pPr marL="3733678" indent="0">
              <a:buNone/>
              <a:defRPr sz="1021"/>
            </a:lvl9pPr>
          </a:lstStyle>
          <a:p>
            <a:pPr lvl="0"/>
            <a:r>
              <a:rPr lang="en-US"/>
              <a:t>Click to edit Master text styles</a:t>
            </a:r>
          </a:p>
        </p:txBody>
      </p:sp>
      <p:sp>
        <p:nvSpPr>
          <p:cNvPr id="5" name="Date Placeholder 4"/>
          <p:cNvSpPr>
            <a:spLocks noGrp="1"/>
          </p:cNvSpPr>
          <p:nvPr>
            <p:ph type="dt" sz="half" idx="10"/>
          </p:nvPr>
        </p:nvSpPr>
        <p:spPr/>
        <p:txBody>
          <a:bodyPr/>
          <a:lstStyle/>
          <a:p>
            <a:fld id="{FE422D9C-23B1-4256-B082-888C2E6AA490}"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DDB521-16F5-4035-AA98-CCD561CA1DA0}" type="slidenum">
              <a:rPr lang="en-US" smtClean="0"/>
              <a:t>‹#›</a:t>
            </a:fld>
            <a:endParaRPr lang="en-US"/>
          </a:p>
        </p:txBody>
      </p:sp>
    </p:spTree>
    <p:extLst>
      <p:ext uri="{BB962C8B-B14F-4D97-AF65-F5344CB8AC3E}">
        <p14:creationId xmlns:p14="http://schemas.microsoft.com/office/powerpoint/2010/main" val="4234503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422D9C-23B1-4256-B082-888C2E6AA490}"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DDB521-16F5-4035-AA98-CCD561CA1DA0}" type="slidenum">
              <a:rPr lang="en-US" smtClean="0"/>
              <a:t>‹#›</a:t>
            </a:fld>
            <a:endParaRPr lang="en-US"/>
          </a:p>
        </p:txBody>
      </p:sp>
    </p:spTree>
    <p:extLst>
      <p:ext uri="{BB962C8B-B14F-4D97-AF65-F5344CB8AC3E}">
        <p14:creationId xmlns:p14="http://schemas.microsoft.com/office/powerpoint/2010/main" val="1060827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0002" y="702866"/>
            <a:ext cx="2012752" cy="1118778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41748" y="702866"/>
            <a:ext cx="5921573" cy="111877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422D9C-23B1-4256-B082-888C2E6AA490}"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DDB521-16F5-4035-AA98-CCD561CA1DA0}" type="slidenum">
              <a:rPr lang="en-US" smtClean="0"/>
              <a:t>‹#›</a:t>
            </a:fld>
            <a:endParaRPr lang="en-US"/>
          </a:p>
        </p:txBody>
      </p:sp>
    </p:spTree>
    <p:extLst>
      <p:ext uri="{BB962C8B-B14F-4D97-AF65-F5344CB8AC3E}">
        <p14:creationId xmlns:p14="http://schemas.microsoft.com/office/powerpoint/2010/main" val="1475123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18467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1747" y="702868"/>
            <a:ext cx="8051006" cy="255170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41747" y="3514328"/>
            <a:ext cx="8051006" cy="83763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747" y="12235976"/>
            <a:ext cx="2100263" cy="702866"/>
          </a:xfrm>
          <a:prstGeom prst="rect">
            <a:avLst/>
          </a:prstGeom>
        </p:spPr>
        <p:txBody>
          <a:bodyPr vert="horz" lIns="91440" tIns="45720" rIns="91440" bIns="45720" rtlCol="0" anchor="ctr"/>
          <a:lstStyle>
            <a:lvl1pPr algn="l">
              <a:defRPr sz="1225">
                <a:solidFill>
                  <a:schemeClr val="tx1">
                    <a:tint val="82000"/>
                  </a:schemeClr>
                </a:solidFill>
              </a:defRPr>
            </a:lvl1pPr>
          </a:lstStyle>
          <a:p>
            <a:fld id="{FE422D9C-23B1-4256-B082-888C2E6AA490}" type="datetimeFigureOut">
              <a:rPr lang="en-US" smtClean="0"/>
              <a:t>6/26/2026</a:t>
            </a:fld>
            <a:endParaRPr lang="en-US"/>
          </a:p>
        </p:txBody>
      </p:sp>
      <p:sp>
        <p:nvSpPr>
          <p:cNvPr id="5" name="Footer Placeholder 4"/>
          <p:cNvSpPr>
            <a:spLocks noGrp="1"/>
          </p:cNvSpPr>
          <p:nvPr>
            <p:ph type="ftr" sz="quarter" idx="3"/>
          </p:nvPr>
        </p:nvSpPr>
        <p:spPr>
          <a:xfrm>
            <a:off x="3092053" y="12235976"/>
            <a:ext cx="3150394" cy="702866"/>
          </a:xfrm>
          <a:prstGeom prst="rect">
            <a:avLst/>
          </a:prstGeom>
        </p:spPr>
        <p:txBody>
          <a:bodyPr vert="horz" lIns="91440" tIns="45720" rIns="91440" bIns="45720" rtlCol="0" anchor="ctr"/>
          <a:lstStyle>
            <a:lvl1pPr algn="ctr">
              <a:defRPr sz="122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592490" y="12235976"/>
            <a:ext cx="2100263" cy="702866"/>
          </a:xfrm>
          <a:prstGeom prst="rect">
            <a:avLst/>
          </a:prstGeom>
        </p:spPr>
        <p:txBody>
          <a:bodyPr vert="horz" lIns="91440" tIns="45720" rIns="91440" bIns="45720" rtlCol="0" anchor="ctr"/>
          <a:lstStyle>
            <a:lvl1pPr algn="r">
              <a:defRPr sz="1225">
                <a:solidFill>
                  <a:schemeClr val="tx1">
                    <a:tint val="82000"/>
                  </a:schemeClr>
                </a:solidFill>
              </a:defRPr>
            </a:lvl1pPr>
          </a:lstStyle>
          <a:p>
            <a:fld id="{9ADDB521-16F5-4035-AA98-CCD561CA1DA0}" type="slidenum">
              <a:rPr lang="en-US" smtClean="0"/>
              <a:t>‹#›</a:t>
            </a:fld>
            <a:endParaRPr lang="en-US"/>
          </a:p>
        </p:txBody>
      </p:sp>
    </p:spTree>
    <p:extLst>
      <p:ext uri="{BB962C8B-B14F-4D97-AF65-F5344CB8AC3E}">
        <p14:creationId xmlns:p14="http://schemas.microsoft.com/office/powerpoint/2010/main" val="257157895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33420" rtl="0" eaLnBrk="1" latinLnBrk="0" hangingPunct="1">
        <a:lnSpc>
          <a:spcPct val="90000"/>
        </a:lnSpc>
        <a:spcBef>
          <a:spcPct val="0"/>
        </a:spcBef>
        <a:buNone/>
        <a:defRPr sz="4492" kern="1200">
          <a:solidFill>
            <a:schemeClr val="tx1"/>
          </a:solidFill>
          <a:latin typeface="+mj-lt"/>
          <a:ea typeface="+mj-ea"/>
          <a:cs typeface="+mj-cs"/>
        </a:defRPr>
      </a:lvl1pPr>
    </p:titleStyle>
    <p:bodyStyle>
      <a:lvl1pPr marL="233355" indent="-233355" algn="l" defTabSz="933420" rtl="0" eaLnBrk="1" latinLnBrk="0" hangingPunct="1">
        <a:lnSpc>
          <a:spcPct val="90000"/>
        </a:lnSpc>
        <a:spcBef>
          <a:spcPts val="1021"/>
        </a:spcBef>
        <a:buFont typeface="Arial" panose="020B0604020202020204" pitchFamily="34" charset="0"/>
        <a:buChar char="•"/>
        <a:defRPr sz="2858" kern="1200">
          <a:solidFill>
            <a:schemeClr val="tx1"/>
          </a:solidFill>
          <a:latin typeface="+mn-lt"/>
          <a:ea typeface="+mn-ea"/>
          <a:cs typeface="+mn-cs"/>
        </a:defRPr>
      </a:lvl1pPr>
      <a:lvl2pPr marL="700065" indent="-233355" algn="l" defTabSz="933420" rtl="0" eaLnBrk="1" latinLnBrk="0" hangingPunct="1">
        <a:lnSpc>
          <a:spcPct val="90000"/>
        </a:lnSpc>
        <a:spcBef>
          <a:spcPts val="510"/>
        </a:spcBef>
        <a:buFont typeface="Arial" panose="020B0604020202020204" pitchFamily="34" charset="0"/>
        <a:buChar char="•"/>
        <a:defRPr sz="2450" kern="1200">
          <a:solidFill>
            <a:schemeClr val="tx1"/>
          </a:solidFill>
          <a:latin typeface="+mn-lt"/>
          <a:ea typeface="+mn-ea"/>
          <a:cs typeface="+mn-cs"/>
        </a:defRPr>
      </a:lvl2pPr>
      <a:lvl3pPr marL="1166774" indent="-233355" algn="l" defTabSz="933420" rtl="0" eaLnBrk="1" latinLnBrk="0" hangingPunct="1">
        <a:lnSpc>
          <a:spcPct val="90000"/>
        </a:lnSpc>
        <a:spcBef>
          <a:spcPts val="510"/>
        </a:spcBef>
        <a:buFont typeface="Arial" panose="020B0604020202020204" pitchFamily="34" charset="0"/>
        <a:buChar char="•"/>
        <a:defRPr sz="2042" kern="1200">
          <a:solidFill>
            <a:schemeClr val="tx1"/>
          </a:solidFill>
          <a:latin typeface="+mn-lt"/>
          <a:ea typeface="+mn-ea"/>
          <a:cs typeface="+mn-cs"/>
        </a:defRPr>
      </a:lvl3pPr>
      <a:lvl4pPr marL="1633484" indent="-233355" algn="l" defTabSz="933420" rtl="0" eaLnBrk="1" latinLnBrk="0" hangingPunct="1">
        <a:lnSpc>
          <a:spcPct val="90000"/>
        </a:lnSpc>
        <a:spcBef>
          <a:spcPts val="510"/>
        </a:spcBef>
        <a:buFont typeface="Arial" panose="020B0604020202020204" pitchFamily="34" charset="0"/>
        <a:buChar char="•"/>
        <a:defRPr sz="1837" kern="1200">
          <a:solidFill>
            <a:schemeClr val="tx1"/>
          </a:solidFill>
          <a:latin typeface="+mn-lt"/>
          <a:ea typeface="+mn-ea"/>
          <a:cs typeface="+mn-cs"/>
        </a:defRPr>
      </a:lvl4pPr>
      <a:lvl5pPr marL="2100194" indent="-233355" algn="l" defTabSz="933420" rtl="0" eaLnBrk="1" latinLnBrk="0" hangingPunct="1">
        <a:lnSpc>
          <a:spcPct val="90000"/>
        </a:lnSpc>
        <a:spcBef>
          <a:spcPts val="510"/>
        </a:spcBef>
        <a:buFont typeface="Arial" panose="020B0604020202020204" pitchFamily="34" charset="0"/>
        <a:buChar char="•"/>
        <a:defRPr sz="1837" kern="1200">
          <a:solidFill>
            <a:schemeClr val="tx1"/>
          </a:solidFill>
          <a:latin typeface="+mn-lt"/>
          <a:ea typeface="+mn-ea"/>
          <a:cs typeface="+mn-cs"/>
        </a:defRPr>
      </a:lvl5pPr>
      <a:lvl6pPr marL="2566904" indent="-233355" algn="l" defTabSz="933420" rtl="0" eaLnBrk="1" latinLnBrk="0" hangingPunct="1">
        <a:lnSpc>
          <a:spcPct val="90000"/>
        </a:lnSpc>
        <a:spcBef>
          <a:spcPts val="510"/>
        </a:spcBef>
        <a:buFont typeface="Arial" panose="020B0604020202020204" pitchFamily="34" charset="0"/>
        <a:buChar char="•"/>
        <a:defRPr sz="1837" kern="1200">
          <a:solidFill>
            <a:schemeClr val="tx1"/>
          </a:solidFill>
          <a:latin typeface="+mn-lt"/>
          <a:ea typeface="+mn-ea"/>
          <a:cs typeface="+mn-cs"/>
        </a:defRPr>
      </a:lvl6pPr>
      <a:lvl7pPr marL="3033613" indent="-233355" algn="l" defTabSz="933420" rtl="0" eaLnBrk="1" latinLnBrk="0" hangingPunct="1">
        <a:lnSpc>
          <a:spcPct val="90000"/>
        </a:lnSpc>
        <a:spcBef>
          <a:spcPts val="510"/>
        </a:spcBef>
        <a:buFont typeface="Arial" panose="020B0604020202020204" pitchFamily="34" charset="0"/>
        <a:buChar char="•"/>
        <a:defRPr sz="1837" kern="1200">
          <a:solidFill>
            <a:schemeClr val="tx1"/>
          </a:solidFill>
          <a:latin typeface="+mn-lt"/>
          <a:ea typeface="+mn-ea"/>
          <a:cs typeface="+mn-cs"/>
        </a:defRPr>
      </a:lvl7pPr>
      <a:lvl8pPr marL="3500323" indent="-233355" algn="l" defTabSz="933420" rtl="0" eaLnBrk="1" latinLnBrk="0" hangingPunct="1">
        <a:lnSpc>
          <a:spcPct val="90000"/>
        </a:lnSpc>
        <a:spcBef>
          <a:spcPts val="510"/>
        </a:spcBef>
        <a:buFont typeface="Arial" panose="020B0604020202020204" pitchFamily="34" charset="0"/>
        <a:buChar char="•"/>
        <a:defRPr sz="1837" kern="1200">
          <a:solidFill>
            <a:schemeClr val="tx1"/>
          </a:solidFill>
          <a:latin typeface="+mn-lt"/>
          <a:ea typeface="+mn-ea"/>
          <a:cs typeface="+mn-cs"/>
        </a:defRPr>
      </a:lvl8pPr>
      <a:lvl9pPr marL="3967033" indent="-233355" algn="l" defTabSz="933420" rtl="0" eaLnBrk="1" latinLnBrk="0" hangingPunct="1">
        <a:lnSpc>
          <a:spcPct val="90000"/>
        </a:lnSpc>
        <a:spcBef>
          <a:spcPts val="510"/>
        </a:spcBef>
        <a:buFont typeface="Arial" panose="020B0604020202020204" pitchFamily="34" charset="0"/>
        <a:buChar char="•"/>
        <a:defRPr sz="1837" kern="1200">
          <a:solidFill>
            <a:schemeClr val="tx1"/>
          </a:solidFill>
          <a:latin typeface="+mn-lt"/>
          <a:ea typeface="+mn-ea"/>
          <a:cs typeface="+mn-cs"/>
        </a:defRPr>
      </a:lvl9pPr>
    </p:bodyStyle>
    <p:otherStyle>
      <a:defPPr>
        <a:defRPr lang="en-US"/>
      </a:defPPr>
      <a:lvl1pPr marL="0" algn="l" defTabSz="933420" rtl="0" eaLnBrk="1" latinLnBrk="0" hangingPunct="1">
        <a:defRPr sz="1837" kern="1200">
          <a:solidFill>
            <a:schemeClr val="tx1"/>
          </a:solidFill>
          <a:latin typeface="+mn-lt"/>
          <a:ea typeface="+mn-ea"/>
          <a:cs typeface="+mn-cs"/>
        </a:defRPr>
      </a:lvl1pPr>
      <a:lvl2pPr marL="466710" algn="l" defTabSz="933420" rtl="0" eaLnBrk="1" latinLnBrk="0" hangingPunct="1">
        <a:defRPr sz="1837" kern="1200">
          <a:solidFill>
            <a:schemeClr val="tx1"/>
          </a:solidFill>
          <a:latin typeface="+mn-lt"/>
          <a:ea typeface="+mn-ea"/>
          <a:cs typeface="+mn-cs"/>
        </a:defRPr>
      </a:lvl2pPr>
      <a:lvl3pPr marL="933420" algn="l" defTabSz="933420" rtl="0" eaLnBrk="1" latinLnBrk="0" hangingPunct="1">
        <a:defRPr sz="1837" kern="1200">
          <a:solidFill>
            <a:schemeClr val="tx1"/>
          </a:solidFill>
          <a:latin typeface="+mn-lt"/>
          <a:ea typeface="+mn-ea"/>
          <a:cs typeface="+mn-cs"/>
        </a:defRPr>
      </a:lvl3pPr>
      <a:lvl4pPr marL="1400129" algn="l" defTabSz="933420" rtl="0" eaLnBrk="1" latinLnBrk="0" hangingPunct="1">
        <a:defRPr sz="1837" kern="1200">
          <a:solidFill>
            <a:schemeClr val="tx1"/>
          </a:solidFill>
          <a:latin typeface="+mn-lt"/>
          <a:ea typeface="+mn-ea"/>
          <a:cs typeface="+mn-cs"/>
        </a:defRPr>
      </a:lvl4pPr>
      <a:lvl5pPr marL="1866839" algn="l" defTabSz="933420" rtl="0" eaLnBrk="1" latinLnBrk="0" hangingPunct="1">
        <a:defRPr sz="1837" kern="1200">
          <a:solidFill>
            <a:schemeClr val="tx1"/>
          </a:solidFill>
          <a:latin typeface="+mn-lt"/>
          <a:ea typeface="+mn-ea"/>
          <a:cs typeface="+mn-cs"/>
        </a:defRPr>
      </a:lvl5pPr>
      <a:lvl6pPr marL="2333549" algn="l" defTabSz="933420" rtl="0" eaLnBrk="1" latinLnBrk="0" hangingPunct="1">
        <a:defRPr sz="1837" kern="1200">
          <a:solidFill>
            <a:schemeClr val="tx1"/>
          </a:solidFill>
          <a:latin typeface="+mn-lt"/>
          <a:ea typeface="+mn-ea"/>
          <a:cs typeface="+mn-cs"/>
        </a:defRPr>
      </a:lvl6pPr>
      <a:lvl7pPr marL="2800259" algn="l" defTabSz="933420" rtl="0" eaLnBrk="1" latinLnBrk="0" hangingPunct="1">
        <a:defRPr sz="1837" kern="1200">
          <a:solidFill>
            <a:schemeClr val="tx1"/>
          </a:solidFill>
          <a:latin typeface="+mn-lt"/>
          <a:ea typeface="+mn-ea"/>
          <a:cs typeface="+mn-cs"/>
        </a:defRPr>
      </a:lvl7pPr>
      <a:lvl8pPr marL="3266968" algn="l" defTabSz="933420" rtl="0" eaLnBrk="1" latinLnBrk="0" hangingPunct="1">
        <a:defRPr sz="1837" kern="1200">
          <a:solidFill>
            <a:schemeClr val="tx1"/>
          </a:solidFill>
          <a:latin typeface="+mn-lt"/>
          <a:ea typeface="+mn-ea"/>
          <a:cs typeface="+mn-cs"/>
        </a:defRPr>
      </a:lvl8pPr>
      <a:lvl9pPr marL="3733678" algn="l" defTabSz="933420" rtl="0" eaLnBrk="1" latinLnBrk="0" hangingPunct="1">
        <a:defRPr sz="183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microsoft.com/office/2007/relationships/hdphoto" Target="../media/hdphoto1.wdp"/><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334500" cy="13201650"/>
          </a:xfrm>
          <a:prstGeom prst="roundRect">
            <a:avLst>
              <a:gd name="adj" fmla="val 204"/>
            </a:avLst>
          </a:prstGeom>
          <a:blipFill dpi="0" rotWithShape="1">
            <a:blip r:embed="rId3">
              <a:alphaModFix amt="50000"/>
            </a:blip>
            <a:srcRect/>
            <a:stretch>
              <a:fillRect/>
            </a:stretch>
          </a:blipFill>
          <a:ln/>
          <a:effectLst>
            <a:outerShdw blurRad="28575" dist="9525" dir="5400000" algn="bl" rotWithShape="0">
              <a:srgbClr val="000000">
                <a:alpha val="8000"/>
              </a:srgbClr>
            </a:outerShdw>
          </a:effectLst>
        </p:spPr>
        <p:txBody>
          <a:bodyPr/>
          <a:p/>
        </p:txBody>
      </p:sp>
      <p:pic>
        <p:nvPicPr>
          <p:cNvPr id="3" name="Image 0" descr="preencoded.png"/>
          <p:cNvPicPr>
            <a:picLocks noChangeAspect="1"/>
          </p:cNvPicPr>
          <p:nvPr/>
        </p:nvPicPr>
        <p:blipFill>
          <a:blip r:embed="rId4">
            <a:alphaModFix amt="70000"/>
            <a:extLst>
              <a:ext uri="{BEBA8EAE-BF5A-486C-A8C5-ECC9F3942E4B}">
                <a14:imgProps xmlns:a14="http://schemas.microsoft.com/office/drawing/2010/main">
                  <a14:imgLayer r:embed="rId5">
                    <a14:imgEffect>
                      <a14:colorTemperature colorTemp="4700"/>
                    </a14:imgEffect>
                  </a14:imgLayer>
                </a14:imgProps>
              </a:ext>
            </a:extLst>
          </a:blip>
          <a:stretch>
            <a:fillRect/>
          </a:stretch>
        </p:blipFill>
        <p:spPr>
          <a:xfrm>
            <a:off x="-13802" y="3175"/>
            <a:ext cx="9348302" cy="2150467"/>
          </a:xfrm>
          <a:prstGeom prst="rect">
            <a:avLst/>
          </a:prstGeom>
        </p:spPr>
      </p:pic>
      <p:sp>
        <p:nvSpPr>
          <p:cNvPr id="6" name="Text 2"/>
          <p:cNvSpPr/>
          <p:nvPr/>
        </p:nvSpPr>
        <p:spPr>
          <a:xfrm>
            <a:off x="1230630" y="285750"/>
            <a:ext cx="6873240" cy="158750"/>
          </a:xfrm>
          <a:prstGeom prst="rect">
            <a:avLst/>
          </a:prstGeom>
          <a:noFill/>
          <a:ln/>
          <a:effectLst>
            <a:outerShdw blurRad="57150" dist="9525" dir="5400000" algn="bl" rotWithShape="0">
              <a:srgbClr val="000000">
                <a:alpha val="40000"/>
              </a:srgbClr>
            </a:outerShdw>
          </a:effectLst>
        </p:spPr>
        <p:txBody>
          <a:bodyPr wrap="square" lIns="25400" tIns="25400" rIns="25400" bIns="25400" rtlCol="0" anchor="t">
            <a:normAutofit fontScale="92500" lnSpcReduction="20000"/>
          </a:bodyPr>
          <a:lstStyle/>
          <a:p>
            <a:pPr marL="0" indent="0" algn="ctr">
              <a:buNone/>
            </a:pPr>
            <a:endParaRPr lang="en-US" sz="825" dirty="0"/>
          </a:p>
        </p:txBody>
      </p:sp>
      <p:sp>
        <p:nvSpPr>
          <p:cNvPr id="7" name="Text 3"/>
          <p:cNvSpPr/>
          <p:nvPr/>
        </p:nvSpPr>
        <p:spPr>
          <a:xfrm>
            <a:off x="1449324" y="492125"/>
            <a:ext cx="6435852" cy="848717"/>
          </a:xfrm>
          <a:prstGeom prst="rect">
            <a:avLst/>
          </a:prstGeom>
          <a:noFill/>
          <a:ln/>
          <a:effectLst>
            <a:outerShdw blurRad="57150" dist="9525" dir="5400000" algn="bl" rotWithShape="0">
              <a:srgbClr val="000000">
                <a:alpha val="40000"/>
              </a:srgbClr>
            </a:outerShdw>
          </a:effectLst>
        </p:spPr>
        <p:txBody>
          <a:bodyPr wrap="square" lIns="25400" tIns="25400" rIns="25400" bIns="25400" rtlCol="0" anchor="t">
            <a:normAutofit fontScale="92500" lnSpcReduction="10000"/>
          </a:bodyPr>
          <a:lstStyle/>
          <a:p>
            <a:pPr marL="0" indent="0" algn="ctr">
              <a:lnSpc>
                <a:spcPct val="112000"/>
              </a:lnSpc>
              <a:buNone/>
            </a:pPr>
            <a:r>
              <a:rPr b="1" sz="2300">
                <a:solidFill>
                  <a:srgbClr val="FFFFFF"/>
                </a:solidFill>
                <a:latin typeface="Georgia"/>
              </a:rPr>
              <a:t>A 112-Bit Binary Rescue Payload for BeiDou-3 Short Messaging</a:t>
            </a:r>
            <a:endParaRPr lang="en-US" sz="2850" dirty="0">
              <a:solidFill>
                <a:schemeClr val="bg1">
                  <a:lumMod val="85000"/>
                </a:schemeClr>
              </a:solidFill>
            </a:endParaRPr>
          </a:p>
          <a:p>
            <a:r>
              <a:rPr i="1" sz="1200">
                <a:solidFill>
                  <a:srgbClr val="FFFFFF"/>
                </a:solidFill>
                <a:latin typeface="Georgia"/>
              </a:rPr>
              <a:t>Environment-Stratified Reliability, Latency, and Autonomous UAV Integration</a:t>
            </a:r>
          </a:p>
        </p:txBody>
      </p:sp>
      <p:sp>
        <p:nvSpPr>
          <p:cNvPr id="8" name="Text 4"/>
          <p:cNvSpPr/>
          <p:nvPr/>
        </p:nvSpPr>
        <p:spPr>
          <a:xfrm>
            <a:off x="1449324" y="1426567"/>
            <a:ext cx="6435852" cy="473075"/>
          </a:xfrm>
          <a:prstGeom prst="rect">
            <a:avLst/>
          </a:prstGeom>
          <a:noFill/>
          <a:ln/>
          <a:effectLst>
            <a:outerShdw blurRad="57150" dist="9525" dir="5400000" algn="bl" rotWithShape="0">
              <a:srgbClr val="000000">
                <a:alpha val="40000"/>
              </a:srgbClr>
            </a:outerShdw>
          </a:effectLst>
        </p:spPr>
        <p:txBody>
          <a:bodyPr wrap="square" lIns="25400" tIns="25400" rIns="25400" bIns="25400" rtlCol="0" anchor="t">
            <a:normAutofit/>
          </a:bodyPr>
          <a:lstStyle/>
          <a:p>
            <a:pPr marL="0" indent="0" algn="ctr">
              <a:buNone/>
            </a:pPr>
            <a:r>
              <a:rPr b="1" sz="1300">
                <a:solidFill>
                  <a:srgbClr val="FFFFFF"/>
                </a:solidFill>
                <a:latin typeface="Arial"/>
              </a:rPr>
              <a:t>Letsoalo Maile</a:t>
            </a:r>
            <a:endParaRPr lang="en-US" sz="1125" dirty="0">
              <a:solidFill>
                <a:schemeClr val="accent3">
                  <a:lumMod val="20000"/>
                  <a:lumOff val="80000"/>
                </a:schemeClr>
              </a:solidFill>
            </a:endParaRPr>
          </a:p>
          <a:p>
            <a:r>
              <a:rPr sz="1000">
                <a:solidFill>
                  <a:srgbClr val="FFFFFF"/>
                </a:solidFill>
                <a:latin typeface="Arial"/>
              </a:rPr>
              <a:t>WP5 BeiDou Communication · School of Astronautics, Beihang University · RCSSTEAP, Beijing · Supervisors: Yan Dayun, Yang Dongkai</a:t>
            </a:r>
          </a:p>
        </p:txBody>
      </p:sp>
      <p:sp>
        <p:nvSpPr>
          <p:cNvPr id="9" name="Shape 5"/>
          <p:cNvSpPr/>
          <p:nvPr/>
        </p:nvSpPr>
        <p:spPr>
          <a:xfrm>
            <a:off x="7925373" y="393007"/>
            <a:ext cx="1409127" cy="1348382"/>
          </a:xfrm>
          <a:prstGeom prst="ellipse">
            <a:avLst/>
          </a:prstGeom>
          <a:solidFill>
            <a:srgbClr val="FFFFFF"/>
          </a:solidFill>
          <a:ln/>
          <a:effectLst>
            <a:outerShdw blurRad="66675" dist="19050" dir="5400000" algn="bl" rotWithShape="0">
              <a:srgbClr val="000000">
                <a:alpha val="22000"/>
              </a:srgbClr>
            </a:outerShdw>
          </a:effectLst>
        </p:spPr>
        <p:txBody>
          <a:bodyPr/>
          <a:lstStyle/>
          <a:p>
            <a:endParaRPr lang="en-US" dirty="0"/>
          </a:p>
        </p:txBody>
      </p:sp>
      <p:sp>
        <p:nvSpPr>
          <p:cNvPr id="11" name="Shape 6"/>
          <p:cNvSpPr/>
          <p:nvPr/>
        </p:nvSpPr>
        <p:spPr>
          <a:xfrm>
            <a:off x="0" y="2147292"/>
            <a:ext cx="9334500" cy="47625"/>
          </a:xfrm>
          <a:prstGeom prst="rect">
            <a:avLst/>
          </a:prstGeom>
          <a:solidFill>
            <a:srgbClr val="B98B2E"/>
          </a:solidFill>
          <a:ln/>
        </p:spPr>
        <p:txBody>
          <a:bodyPr/>
          <a:p/>
        </p:txBody>
      </p:sp>
      <p:sp>
        <p:nvSpPr>
          <p:cNvPr id="13" name="Shape 8"/>
          <p:cNvSpPr/>
          <p:nvPr/>
        </p:nvSpPr>
        <p:spPr>
          <a:xfrm>
            <a:off x="247650" y="2423517"/>
            <a:ext cx="2819400" cy="355600"/>
          </a:xfrm>
          <a:prstGeom prst="rect">
            <a:avLst/>
          </a:prstGeom>
          <a:solidFill>
            <a:srgbClr val="0C2D62"/>
          </a:solidFill>
          <a:ln/>
        </p:spPr>
        <p:txBody>
          <a:bodyPr/>
          <a:p/>
        </p:txBody>
      </p:sp>
      <p:sp>
        <p:nvSpPr>
          <p:cNvPr id="14" name="Text 9"/>
          <p:cNvSpPr/>
          <p:nvPr/>
        </p:nvSpPr>
        <p:spPr>
          <a:xfrm>
            <a:off x="371475" y="2490192"/>
            <a:ext cx="2656332" cy="260350"/>
          </a:xfrm>
          <a:prstGeom prst="rect">
            <a:avLst/>
          </a:prstGeom>
          <a:noFill/>
          <a:ln/>
        </p:spPr>
        <p:txBody>
          <a:bodyPr wrap="square" lIns="25400" tIns="25400" rIns="25400" bIns="25400" rtlCol="0" anchor="t">
            <a:normAutofit/>
          </a:bodyPr>
          <a:lstStyle/>
          <a:p>
            <a:pPr marL="0" indent="0" algn="l">
              <a:buNone/>
            </a:pPr>
            <a:r>
              <a:rPr lang="en-US" sz="1275" b="1" dirty="0">
                <a:solidFill>
                  <a:srgbClr val="FFFFFF"/>
                </a:solidFill>
                <a:latin typeface="Georgia" pitchFamily="34" charset="0"/>
                <a:ea typeface="Georgia" pitchFamily="34" charset="-122"/>
                <a:cs typeface="Georgia" pitchFamily="34" charset="-120"/>
              </a:rPr>
              <a:t>1 · Introduction</a:t>
            </a:r>
            <a:endParaRPr lang="en-US" sz="1275" dirty="0"/>
          </a:p>
        </p:txBody>
      </p:sp>
      <p:sp>
        <p:nvSpPr>
          <p:cNvPr id="15" name="Shape 10"/>
          <p:cNvSpPr/>
          <p:nvPr/>
        </p:nvSpPr>
        <p:spPr>
          <a:xfrm>
            <a:off x="247650" y="2779117"/>
            <a:ext cx="2819400" cy="987425"/>
          </a:xfrm>
          <a:prstGeom prst="rect">
            <a:avLst/>
          </a:prstGeom>
          <a:solidFill>
            <a:srgbClr val="FFFFFF"/>
          </a:solidFill>
          <a:ln/>
        </p:spPr>
        <p:txBody>
          <a:bodyPr/>
          <a:p/>
        </p:txBody>
      </p:sp>
      <p:sp>
        <p:nvSpPr>
          <p:cNvPr id="16" name="Shape 11"/>
          <p:cNvSpPr/>
          <p:nvPr/>
        </p:nvSpPr>
        <p:spPr>
          <a:xfrm>
            <a:off x="247650" y="3760192"/>
            <a:ext cx="2819400" cy="9525"/>
          </a:xfrm>
          <a:prstGeom prst="rect">
            <a:avLst/>
          </a:prstGeom>
          <a:solidFill>
            <a:srgbClr val="D9E0EA"/>
          </a:solidFill>
          <a:ln/>
        </p:spPr>
        <p:txBody>
          <a:bodyPr/>
          <a:p/>
        </p:txBody>
      </p:sp>
      <p:sp>
        <p:nvSpPr>
          <p:cNvPr id="17" name="Shape 12"/>
          <p:cNvSpPr/>
          <p:nvPr/>
        </p:nvSpPr>
        <p:spPr>
          <a:xfrm>
            <a:off x="247650" y="2779117"/>
            <a:ext cx="9525" cy="987425"/>
          </a:xfrm>
          <a:prstGeom prst="rect">
            <a:avLst/>
          </a:prstGeom>
          <a:solidFill>
            <a:srgbClr val="D9E0EA"/>
          </a:solidFill>
          <a:ln/>
        </p:spPr>
        <p:txBody>
          <a:bodyPr/>
          <a:p/>
        </p:txBody>
      </p:sp>
      <p:sp>
        <p:nvSpPr>
          <p:cNvPr id="18" name="Shape 13"/>
          <p:cNvSpPr/>
          <p:nvPr/>
        </p:nvSpPr>
        <p:spPr>
          <a:xfrm>
            <a:off x="3060700" y="2779117"/>
            <a:ext cx="9525" cy="987425"/>
          </a:xfrm>
          <a:prstGeom prst="rect">
            <a:avLst/>
          </a:prstGeom>
          <a:solidFill>
            <a:srgbClr val="D9E0EA"/>
          </a:solidFill>
          <a:ln/>
        </p:spPr>
        <p:txBody>
          <a:bodyPr/>
          <a:p/>
        </p:txBody>
      </p:sp>
      <p:sp>
        <p:nvSpPr>
          <p:cNvPr id="19" name="Text 14"/>
          <p:cNvSpPr/>
          <p:nvPr/>
        </p:nvSpPr>
        <p:spPr>
          <a:xfrm>
            <a:off x="377825" y="2883892"/>
            <a:ext cx="2643632" cy="8096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sz="1013" i="1">
                <a:solidFill>
                  <a:srgbClr val="8C95A4"/>
                </a:solidFill>
                <a:latin typeface="Arial"/>
              </a:rPr>
              <a:t>When a disaster destroys terrestrial networks, survivors cannot call for help and rescuers cannot locate them — yet a survivor's position is often already known to centimetre accuracy. BeiDou-3 Short Message Communication carries short data messages through the satellite constellation with no terrestrial relay, surviving when cellular and internet links collapse. This module — the BeiDou communication backbone (WP5) of a five-module UAV rescue system — asks whether a complete rescue record can be packed into one BeiDou message, delivered reliably across real propagation environments, and turned automatically into an autonomous UAV mission, with no human operator on the critical path.</a:t>
            </a:r>
            <a:endParaRPr lang="en-US" sz="1013" dirty="0"/>
          </a:p>
        </p:txBody>
      </p:sp>
      <p:sp>
        <p:nvSpPr>
          <p:cNvPr id="20" name="Shape 15"/>
          <p:cNvSpPr/>
          <p:nvPr/>
        </p:nvSpPr>
        <p:spPr>
          <a:xfrm>
            <a:off x="247650" y="3918942"/>
            <a:ext cx="2819400" cy="355600"/>
          </a:xfrm>
          <a:prstGeom prst="rect">
            <a:avLst/>
          </a:prstGeom>
          <a:solidFill>
            <a:srgbClr val="0C2D62"/>
          </a:solidFill>
          <a:ln/>
        </p:spPr>
        <p:txBody>
          <a:bodyPr/>
          <a:p/>
        </p:txBody>
      </p:sp>
      <p:sp>
        <p:nvSpPr>
          <p:cNvPr id="21" name="Text 16"/>
          <p:cNvSpPr/>
          <p:nvPr/>
        </p:nvSpPr>
        <p:spPr>
          <a:xfrm>
            <a:off x="371475" y="3985617"/>
            <a:ext cx="2656332" cy="260350"/>
          </a:xfrm>
          <a:prstGeom prst="rect">
            <a:avLst/>
          </a:prstGeom>
          <a:noFill/>
          <a:ln/>
        </p:spPr>
        <p:txBody>
          <a:bodyPr wrap="square" lIns="25400" tIns="25400" rIns="25400" bIns="25400" rtlCol="0" anchor="t">
            <a:normAutofit/>
          </a:bodyPr>
          <a:lstStyle/>
          <a:p>
            <a:pPr marL="0" indent="0" algn="l">
              <a:buNone/>
            </a:pPr>
            <a:r>
              <a:rPr lang="en-US" sz="1275" b="1" dirty="0">
                <a:solidFill>
                  <a:srgbClr val="FFFFFF"/>
                </a:solidFill>
                <a:latin typeface="Georgia" pitchFamily="34" charset="0"/>
                <a:ea typeface="Georgia" pitchFamily="34" charset="-122"/>
                <a:cs typeface="Georgia" pitchFamily="34" charset="-120"/>
              </a:rPr>
              <a:t>2 · Objectives</a:t>
            </a:r>
            <a:endParaRPr lang="en-US" sz="1275" dirty="0"/>
          </a:p>
        </p:txBody>
      </p:sp>
      <p:sp>
        <p:nvSpPr>
          <p:cNvPr id="22" name="Shape 17"/>
          <p:cNvSpPr/>
          <p:nvPr/>
        </p:nvSpPr>
        <p:spPr>
          <a:xfrm>
            <a:off x="247650" y="4274542"/>
            <a:ext cx="2819400" cy="794544"/>
          </a:xfrm>
          <a:prstGeom prst="rect">
            <a:avLst/>
          </a:prstGeom>
          <a:solidFill>
            <a:srgbClr val="FFFFFF"/>
          </a:solidFill>
          <a:ln/>
        </p:spPr>
        <p:txBody>
          <a:bodyPr/>
          <a:p/>
        </p:txBody>
      </p:sp>
      <p:sp>
        <p:nvSpPr>
          <p:cNvPr id="23" name="Shape 18"/>
          <p:cNvSpPr/>
          <p:nvPr/>
        </p:nvSpPr>
        <p:spPr>
          <a:xfrm>
            <a:off x="247650" y="5062736"/>
            <a:ext cx="2819400" cy="9525"/>
          </a:xfrm>
          <a:prstGeom prst="rect">
            <a:avLst/>
          </a:prstGeom>
          <a:solidFill>
            <a:srgbClr val="D9E0EA"/>
          </a:solidFill>
          <a:ln/>
        </p:spPr>
        <p:txBody>
          <a:bodyPr/>
          <a:p/>
        </p:txBody>
      </p:sp>
      <p:sp>
        <p:nvSpPr>
          <p:cNvPr id="24" name="Shape 19"/>
          <p:cNvSpPr/>
          <p:nvPr/>
        </p:nvSpPr>
        <p:spPr>
          <a:xfrm>
            <a:off x="247650" y="4274542"/>
            <a:ext cx="9525" cy="794544"/>
          </a:xfrm>
          <a:prstGeom prst="rect">
            <a:avLst/>
          </a:prstGeom>
          <a:solidFill>
            <a:srgbClr val="D9E0EA"/>
          </a:solidFill>
          <a:ln/>
        </p:spPr>
        <p:txBody>
          <a:bodyPr/>
          <a:p/>
        </p:txBody>
      </p:sp>
      <p:sp>
        <p:nvSpPr>
          <p:cNvPr id="25" name="Shape 20"/>
          <p:cNvSpPr/>
          <p:nvPr/>
        </p:nvSpPr>
        <p:spPr>
          <a:xfrm>
            <a:off x="3060700" y="4274542"/>
            <a:ext cx="9525" cy="794544"/>
          </a:xfrm>
          <a:prstGeom prst="rect">
            <a:avLst/>
          </a:prstGeom>
          <a:solidFill>
            <a:srgbClr val="D9E0EA"/>
          </a:solidFill>
          <a:ln/>
        </p:spPr>
        <p:txBody>
          <a:bodyPr/>
          <a:p/>
        </p:txBody>
      </p:sp>
      <p:sp>
        <p:nvSpPr>
          <p:cNvPr id="26" name="Text 21"/>
          <p:cNvSpPr/>
          <p:nvPr/>
        </p:nvSpPr>
        <p:spPr>
          <a:xfrm>
            <a:off x="377825" y="4379317"/>
            <a:ext cx="2643632" cy="616744"/>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sz="1013" i="1">
                <a:solidFill>
                  <a:srgbClr val="8C95A4"/>
                </a:solidFill>
                <a:latin typeface="Arial"/>
              </a:rPr>
              <a:t>• Capacity — can a complete six-field rescue record fit one regional short message?</a:t>
            </a:r>
            <a:endParaRPr lang="en-US" sz="1013" dirty="0"/>
          </a:p>
          <a:p>
            <a:r>
              <a:rPr sz="1013" i="1">
                <a:solidFill>
                  <a:srgbClr val="8C95A4"/>
                </a:solidFill>
                <a:latin typeface="Arial"/>
              </a:rPr>
              <a:t>• Reliability — does delivery survive real propagation environments?</a:t>
            </a:r>
          </a:p>
          <a:p>
            <a:r>
              <a:rPr sz="1013" i="1">
                <a:solidFill>
                  <a:srgbClr val="8C95A4"/>
                </a:solidFill>
                <a:latin typeface="Arial"/>
              </a:rPr>
              <a:t>• Latency — does the message arrive fast enough to coordinate a rescue?</a:t>
            </a:r>
          </a:p>
          <a:p>
            <a:r>
              <a:rPr sz="1013" i="1">
                <a:solidFill>
                  <a:srgbClr val="8C95A4"/>
                </a:solidFill>
                <a:latin typeface="Arial"/>
              </a:rPr>
              <a:t>• Integration — can the decoded message drive an autonomous mission, not a display?</a:t>
            </a:r>
          </a:p>
        </p:txBody>
      </p:sp>
      <p:sp>
        <p:nvSpPr>
          <p:cNvPr id="27" name="Shape 22"/>
          <p:cNvSpPr/>
          <p:nvPr/>
        </p:nvSpPr>
        <p:spPr>
          <a:xfrm>
            <a:off x="247650" y="5221486"/>
            <a:ext cx="2819400" cy="355600"/>
          </a:xfrm>
          <a:prstGeom prst="rect">
            <a:avLst/>
          </a:prstGeom>
          <a:solidFill>
            <a:srgbClr val="0C2D62"/>
          </a:solidFill>
          <a:ln/>
        </p:spPr>
        <p:txBody>
          <a:bodyPr/>
          <a:p/>
        </p:txBody>
      </p:sp>
      <p:sp>
        <p:nvSpPr>
          <p:cNvPr id="28" name="Text 23"/>
          <p:cNvSpPr/>
          <p:nvPr/>
        </p:nvSpPr>
        <p:spPr>
          <a:xfrm>
            <a:off x="371475" y="5288161"/>
            <a:ext cx="2656332" cy="260350"/>
          </a:xfrm>
          <a:prstGeom prst="rect">
            <a:avLst/>
          </a:prstGeom>
          <a:noFill/>
          <a:ln/>
        </p:spPr>
        <p:txBody>
          <a:bodyPr wrap="square" lIns="25400" tIns="25400" rIns="25400" bIns="25400" rtlCol="0" anchor="t">
            <a:normAutofit/>
          </a:bodyPr>
          <a:lstStyle/>
          <a:p>
            <a:pPr marL="0" indent="0" algn="l">
              <a:buNone/>
            </a:pPr>
            <a:r>
              <a:rPr lang="en-US" sz="1275" b="1" dirty="0">
                <a:solidFill>
                  <a:srgbClr val="FFFFFF"/>
                </a:solidFill>
                <a:latin typeface="Georgia" pitchFamily="34" charset="0"/>
                <a:ea typeface="Georgia" pitchFamily="34" charset="-122"/>
                <a:cs typeface="Georgia" pitchFamily="34" charset="-120"/>
              </a:rPr>
              <a:t>3 · Methods</a:t>
            </a:r>
            <a:endParaRPr lang="en-US" sz="1275" dirty="0"/>
          </a:p>
        </p:txBody>
      </p:sp>
      <p:sp>
        <p:nvSpPr>
          <p:cNvPr id="29" name="Shape 24"/>
          <p:cNvSpPr/>
          <p:nvPr/>
        </p:nvSpPr>
        <p:spPr>
          <a:xfrm>
            <a:off x="247650" y="5577086"/>
            <a:ext cx="2819400" cy="794544"/>
          </a:xfrm>
          <a:prstGeom prst="rect">
            <a:avLst/>
          </a:prstGeom>
          <a:solidFill>
            <a:srgbClr val="FFFFFF"/>
          </a:solidFill>
          <a:ln/>
        </p:spPr>
        <p:txBody>
          <a:bodyPr/>
          <a:p/>
        </p:txBody>
      </p:sp>
      <p:sp>
        <p:nvSpPr>
          <p:cNvPr id="30" name="Shape 25"/>
          <p:cNvSpPr/>
          <p:nvPr/>
        </p:nvSpPr>
        <p:spPr>
          <a:xfrm>
            <a:off x="247650" y="6365280"/>
            <a:ext cx="2819400" cy="9525"/>
          </a:xfrm>
          <a:prstGeom prst="rect">
            <a:avLst/>
          </a:prstGeom>
          <a:solidFill>
            <a:srgbClr val="D9E0EA"/>
          </a:solidFill>
          <a:ln/>
        </p:spPr>
        <p:txBody>
          <a:bodyPr/>
          <a:p/>
        </p:txBody>
      </p:sp>
      <p:sp>
        <p:nvSpPr>
          <p:cNvPr id="31" name="Shape 26"/>
          <p:cNvSpPr/>
          <p:nvPr/>
        </p:nvSpPr>
        <p:spPr>
          <a:xfrm>
            <a:off x="247650" y="5577086"/>
            <a:ext cx="9525" cy="794544"/>
          </a:xfrm>
          <a:prstGeom prst="rect">
            <a:avLst/>
          </a:prstGeom>
          <a:solidFill>
            <a:srgbClr val="D9E0EA"/>
          </a:solidFill>
          <a:ln/>
        </p:spPr>
        <p:txBody>
          <a:bodyPr/>
          <a:p/>
        </p:txBody>
      </p:sp>
      <p:sp>
        <p:nvSpPr>
          <p:cNvPr id="32" name="Shape 27"/>
          <p:cNvSpPr/>
          <p:nvPr/>
        </p:nvSpPr>
        <p:spPr>
          <a:xfrm>
            <a:off x="3060700" y="5577086"/>
            <a:ext cx="9525" cy="794544"/>
          </a:xfrm>
          <a:prstGeom prst="rect">
            <a:avLst/>
          </a:prstGeom>
          <a:solidFill>
            <a:srgbClr val="D9E0EA"/>
          </a:solidFill>
          <a:ln/>
        </p:spPr>
        <p:txBody>
          <a:bodyPr/>
          <a:p/>
        </p:txBody>
      </p:sp>
      <p:sp>
        <p:nvSpPr>
          <p:cNvPr id="33" name="Text 28"/>
          <p:cNvSpPr/>
          <p:nvPr/>
        </p:nvSpPr>
        <p:spPr>
          <a:xfrm>
            <a:off x="377825" y="5681861"/>
            <a:ext cx="2643632" cy="616744"/>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sz="1013" i="1">
                <a:solidFill>
                  <a:srgbClr val="8C95A4"/>
                </a:solidFill>
                <a:latin typeface="Arial"/>
              </a:rPr>
              <a:t>A survivor's RTK-corrected coordinate is encoded into a fixed-point 112-bit binary payload — latitude and longitude at 7 dp (~cm), altitude, uncertainty radius, triage priority, and survivor ID — transmitted through the BeiDou regional service on an ESP32 + BDS-3 RDSS node, read from the operator portal, decoded, and published on a latched /target/emergency_coordinate ROS 2 topic that mission-planning and ground-control modules consume. A 232-transmission field campaign across four environments measured delivery; reliability is reported with Wilson score intervals and a chi-squared homogeneity test, and every figure regenerates from committed scripts.</a:t>
            </a:r>
            <a:endParaRPr lang="en-US" sz="1013" dirty="0"/>
          </a:p>
        </p:txBody>
      </p:sp>
      <p:sp>
        <p:nvSpPr>
          <p:cNvPr id="34" name="Shape 29"/>
          <p:cNvSpPr/>
          <p:nvPr/>
        </p:nvSpPr>
        <p:spPr>
          <a:xfrm>
            <a:off x="3257550" y="2423517"/>
            <a:ext cx="2819400" cy="2259211"/>
          </a:xfrm>
          <a:prstGeom prst="rect">
            <a:avLst/>
          </a:prstGeom>
          <a:ln w="6350">
            <a:solidFill>
              <a:srgbClr val="D9E0EA"/>
            </a:solidFill>
            <a:prstDash val="solid"/>
          </a:ln>
        </p:spPr>
        <p:txBody>
          <a:bodyPr/>
          <a:p/>
        </p:txBody>
      </p:sp>
      <p:sp>
        <p:nvSpPr>
          <p:cNvPr id="35" name="Shape 30"/>
          <p:cNvSpPr/>
          <p:nvPr/>
        </p:nvSpPr>
        <p:spPr>
          <a:xfrm>
            <a:off x="3340101" y="2506067"/>
            <a:ext cx="2654300" cy="1714500"/>
          </a:xfrm>
          <a:prstGeom prst="rect">
            <a:avLst/>
          </a:prstGeom>
          <a:solidFill>
            <a:srgbClr val="EEF1F7"/>
          </a:solidFill>
          <a:ln/>
        </p:spPr>
        <p:txBody>
          <a:bodyPr/>
          <a:p/>
        </p:txBody>
      </p:sp>
      <p:sp>
        <p:nvSpPr>
          <p:cNvPr id="36" name="Text 31"/>
          <p:cNvSpPr/>
          <p:nvPr/>
        </p:nvSpPr>
        <p:spPr>
          <a:xfrm>
            <a:off x="3395536" y="2601317"/>
            <a:ext cx="2543429" cy="1562100"/>
          </a:xfrm>
          <a:prstGeom prst="rect">
            <a:avLst/>
          </a:prstGeom>
          <a:noFill/>
          <a:ln/>
        </p:spPr>
        <p:txBody>
          <a:bodyPr wrap="square" lIns="25400" tIns="25400" rIns="25400" bIns="25400" rtlCol="0" anchor="ctr">
            <a:normAutofit/>
          </a:bodyPr>
          <a:lstStyle/>
          <a:p>
            <a:pPr marL="0" indent="0" algn="ctr">
              <a:buNone/>
            </a:pPr>
            <a:endParaRPr lang="en-US" sz="825" dirty="0"/>
          </a:p>
        </p:txBody>
      </p:sp>
      <p:sp>
        <p:nvSpPr>
          <p:cNvPr id="37" name="Text 32"/>
          <p:cNvSpPr/>
          <p:nvPr/>
        </p:nvSpPr>
        <p:spPr>
          <a:xfrm>
            <a:off x="3359151" y="4287242"/>
            <a:ext cx="2695829" cy="351036"/>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sz="863" b="1">
                <a:solidFill>
                  <a:srgbClr val="0C2D62"/>
                </a:solidFill>
                <a:latin typeface="Arial"/>
              </a:rPr>
              <a:t>Figure 1. End-to-end BeiDou rescue pipeline: survivor position → 112-bit encode → BeiDou regional service → portal → decode → ROS 2 mission trigger.</a:t>
            </a:r>
            <a:endParaRPr lang="en-US" sz="863" dirty="0"/>
          </a:p>
        </p:txBody>
      </p:sp>
      <p:sp>
        <p:nvSpPr>
          <p:cNvPr id="38" name="Shape 33"/>
          <p:cNvSpPr/>
          <p:nvPr/>
        </p:nvSpPr>
        <p:spPr>
          <a:xfrm>
            <a:off x="3257550" y="4835128"/>
            <a:ext cx="2819400" cy="355600"/>
          </a:xfrm>
          <a:prstGeom prst="rect">
            <a:avLst/>
          </a:prstGeom>
          <a:solidFill>
            <a:srgbClr val="0C2D62"/>
          </a:solidFill>
          <a:ln/>
        </p:spPr>
        <p:txBody>
          <a:bodyPr/>
          <a:p/>
        </p:txBody>
      </p:sp>
      <p:sp>
        <p:nvSpPr>
          <p:cNvPr id="39" name="Text 34"/>
          <p:cNvSpPr/>
          <p:nvPr/>
        </p:nvSpPr>
        <p:spPr>
          <a:xfrm>
            <a:off x="3381375" y="4901803"/>
            <a:ext cx="2656332" cy="260350"/>
          </a:xfrm>
          <a:prstGeom prst="rect">
            <a:avLst/>
          </a:prstGeom>
          <a:noFill/>
          <a:ln/>
        </p:spPr>
        <p:txBody>
          <a:bodyPr wrap="square" lIns="25400" tIns="25400" rIns="25400" bIns="25400" rtlCol="0" anchor="t">
            <a:normAutofit/>
          </a:bodyPr>
          <a:lstStyle/>
          <a:p>
            <a:pPr marL="0" indent="0" algn="l">
              <a:buNone/>
            </a:pPr>
            <a:r>
              <a:rPr lang="en-US" sz="1275" b="1" dirty="0">
                <a:solidFill>
                  <a:srgbClr val="FFFFFF"/>
                </a:solidFill>
                <a:latin typeface="Georgia" pitchFamily="34" charset="0"/>
                <a:ea typeface="Georgia" pitchFamily="34" charset="-122"/>
                <a:cs typeface="Georgia" pitchFamily="34" charset="-120"/>
              </a:rPr>
              <a:t>4 · Results</a:t>
            </a:r>
            <a:endParaRPr lang="en-US" sz="1275" dirty="0"/>
          </a:p>
        </p:txBody>
      </p:sp>
      <p:sp>
        <p:nvSpPr>
          <p:cNvPr id="40" name="Shape 35"/>
          <p:cNvSpPr/>
          <p:nvPr/>
        </p:nvSpPr>
        <p:spPr>
          <a:xfrm>
            <a:off x="3257550" y="5190728"/>
            <a:ext cx="2819400" cy="987425"/>
          </a:xfrm>
          <a:prstGeom prst="rect">
            <a:avLst/>
          </a:prstGeom>
          <a:solidFill>
            <a:srgbClr val="FFFFFF"/>
          </a:solidFill>
          <a:ln/>
        </p:spPr>
        <p:txBody>
          <a:bodyPr/>
          <a:p/>
        </p:txBody>
      </p:sp>
      <p:sp>
        <p:nvSpPr>
          <p:cNvPr id="41" name="Shape 36"/>
          <p:cNvSpPr/>
          <p:nvPr/>
        </p:nvSpPr>
        <p:spPr>
          <a:xfrm>
            <a:off x="3257550" y="6171803"/>
            <a:ext cx="2819400" cy="9525"/>
          </a:xfrm>
          <a:prstGeom prst="rect">
            <a:avLst/>
          </a:prstGeom>
          <a:solidFill>
            <a:srgbClr val="D9E0EA"/>
          </a:solidFill>
          <a:ln/>
        </p:spPr>
        <p:txBody>
          <a:bodyPr/>
          <a:p/>
        </p:txBody>
      </p:sp>
      <p:sp>
        <p:nvSpPr>
          <p:cNvPr id="42" name="Shape 37"/>
          <p:cNvSpPr/>
          <p:nvPr/>
        </p:nvSpPr>
        <p:spPr>
          <a:xfrm>
            <a:off x="3257550" y="5190728"/>
            <a:ext cx="9525" cy="987425"/>
          </a:xfrm>
          <a:prstGeom prst="rect">
            <a:avLst/>
          </a:prstGeom>
          <a:solidFill>
            <a:srgbClr val="D9E0EA"/>
          </a:solidFill>
          <a:ln/>
        </p:spPr>
        <p:txBody>
          <a:bodyPr/>
          <a:p/>
        </p:txBody>
      </p:sp>
      <p:sp>
        <p:nvSpPr>
          <p:cNvPr id="43" name="Shape 38"/>
          <p:cNvSpPr/>
          <p:nvPr/>
        </p:nvSpPr>
        <p:spPr>
          <a:xfrm>
            <a:off x="6070600" y="5190728"/>
            <a:ext cx="9525" cy="987425"/>
          </a:xfrm>
          <a:prstGeom prst="rect">
            <a:avLst/>
          </a:prstGeom>
          <a:solidFill>
            <a:srgbClr val="D9E0EA"/>
          </a:solidFill>
          <a:ln/>
        </p:spPr>
        <p:txBody>
          <a:bodyPr/>
          <a:p/>
        </p:txBody>
      </p:sp>
      <p:sp>
        <p:nvSpPr>
          <p:cNvPr id="44" name="Text 39"/>
          <p:cNvSpPr/>
          <p:nvPr/>
        </p:nvSpPr>
        <p:spPr>
          <a:xfrm>
            <a:off x="3387725" y="5295503"/>
            <a:ext cx="2643632" cy="809625"/>
          </a:xfrm>
          <a:prstGeom prst="rect">
            <a:avLst/>
          </a:prstGeom>
          <a:noFill/>
          <a:ln/>
        </p:spPr>
        <p:txBody>
          <a:bodyPr wrap="square" lIns="25400" tIns="25400" rIns="25400" bIns="25400" rtlCol="0" anchor="t">
            <a:normAutofit fontScale="92500"/>
          </a:bodyPr>
          <a:lstStyle/>
          <a:p>
            <a:pPr marL="0" indent="0" algn="l">
              <a:lnSpc>
                <a:spcPct val="150000"/>
              </a:lnSpc>
              <a:buNone/>
            </a:pPr>
            <a:r>
              <a:rPr sz="1013" i="1">
                <a:solidFill>
                  <a:srgbClr val="8C95A4"/>
                </a:solidFill>
                <a:latin typeface="Arial"/>
              </a:rPr>
              <a:t>Across 232 valid transmissions the satellite segment acknowledged every one (Wilson 95% lower bound ≥ 98.4% pooled, ≥ 93.7% per environment; the rule of three bounds pooled failure below 1.3%). Mean end-to-end latency was 2.57 s (n = 30, all &lt; 5 s). The 112-bit payload is 57.6% smaller than its ASCII form and decodes bit-for-bit against ground truth. The decoded coordinate drives an autonomous ROS 2 mission trigger, merged and verified across the five-module system.</a:t>
            </a:r>
            <a:endParaRPr lang="en-US" sz="1013" dirty="0"/>
          </a:p>
        </p:txBody>
      </p:sp>
      <p:sp>
        <p:nvSpPr>
          <p:cNvPr id="45" name="Shape 40"/>
          <p:cNvSpPr/>
          <p:nvPr/>
        </p:nvSpPr>
        <p:spPr>
          <a:xfrm>
            <a:off x="3257550" y="6330553"/>
            <a:ext cx="2819400" cy="2010668"/>
          </a:xfrm>
          <a:prstGeom prst="rect">
            <a:avLst/>
          </a:prstGeom>
          <a:ln w="6350">
            <a:solidFill>
              <a:srgbClr val="D9E0EA"/>
            </a:solidFill>
            <a:prstDash val="solid"/>
          </a:ln>
        </p:spPr>
        <p:txBody>
          <a:bodyPr/>
          <a:p/>
        </p:txBody>
      </p:sp>
      <p:sp>
        <p:nvSpPr>
          <p:cNvPr id="46" name="Shape 41"/>
          <p:cNvSpPr/>
          <p:nvPr/>
        </p:nvSpPr>
        <p:spPr>
          <a:xfrm>
            <a:off x="3340101" y="6413103"/>
            <a:ext cx="2654300" cy="1619250"/>
          </a:xfrm>
          <a:prstGeom prst="rect">
            <a:avLst/>
          </a:prstGeom>
          <a:solidFill>
            <a:srgbClr val="EEF1F7"/>
          </a:solidFill>
          <a:ln/>
        </p:spPr>
        <p:txBody>
          <a:bodyPr/>
          <a:p/>
        </p:txBody>
      </p:sp>
      <p:sp>
        <p:nvSpPr>
          <p:cNvPr id="47" name="Text 42"/>
          <p:cNvSpPr/>
          <p:nvPr/>
        </p:nvSpPr>
        <p:spPr>
          <a:xfrm>
            <a:off x="3395536" y="6508353"/>
            <a:ext cx="2543429" cy="1466850"/>
          </a:xfrm>
          <a:prstGeom prst="rect">
            <a:avLst/>
          </a:prstGeom>
          <a:noFill/>
          <a:ln/>
        </p:spPr>
        <p:txBody>
          <a:bodyPr wrap="square" lIns="25400" tIns="25400" rIns="25400" bIns="25400" rtlCol="0" anchor="ctr">
            <a:normAutofit/>
          </a:bodyPr>
          <a:lstStyle/>
          <a:p>
            <a:pPr marL="0" indent="0" algn="ctr">
              <a:buNone/>
            </a:pPr>
            <a:endParaRPr lang="en-US" sz="825" dirty="0"/>
          </a:p>
        </p:txBody>
      </p:sp>
      <p:sp>
        <p:nvSpPr>
          <p:cNvPr id="48" name="Text 43"/>
          <p:cNvSpPr/>
          <p:nvPr/>
        </p:nvSpPr>
        <p:spPr>
          <a:xfrm>
            <a:off x="3359151" y="8099028"/>
            <a:ext cx="2695829" cy="197743"/>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sz="863" b="1">
                <a:solidFill>
                  <a:srgbClr val="0C2D62"/>
                </a:solidFill>
                <a:latin typeface="Arial"/>
              </a:rPr>
              <a:t>Figure 2. BeiDou delivery reliability by environment with Wilson 95% intervals (n = 57–61 per environment).</a:t>
            </a:r>
            <a:endParaRPr lang="en-US" sz="863" dirty="0"/>
          </a:p>
        </p:txBody>
      </p:sp>
      <p:sp>
        <p:nvSpPr>
          <p:cNvPr id="49" name="Shape 44"/>
          <p:cNvSpPr/>
          <p:nvPr/>
        </p:nvSpPr>
        <p:spPr>
          <a:xfrm>
            <a:off x="6267450" y="2423517"/>
            <a:ext cx="2819400" cy="355600"/>
          </a:xfrm>
          <a:prstGeom prst="rect">
            <a:avLst/>
          </a:prstGeom>
          <a:solidFill>
            <a:srgbClr val="0C2D62"/>
          </a:solidFill>
          <a:ln/>
        </p:spPr>
        <p:txBody>
          <a:bodyPr/>
          <a:p/>
        </p:txBody>
      </p:sp>
      <p:sp>
        <p:nvSpPr>
          <p:cNvPr id="50" name="Text 45"/>
          <p:cNvSpPr/>
          <p:nvPr/>
        </p:nvSpPr>
        <p:spPr>
          <a:xfrm>
            <a:off x="6391275" y="2490192"/>
            <a:ext cx="2656332" cy="260350"/>
          </a:xfrm>
          <a:prstGeom prst="rect">
            <a:avLst/>
          </a:prstGeom>
          <a:noFill/>
          <a:ln/>
        </p:spPr>
        <p:txBody>
          <a:bodyPr wrap="square" lIns="25400" tIns="25400" rIns="25400" bIns="25400" rtlCol="0" anchor="t">
            <a:normAutofit/>
          </a:bodyPr>
          <a:lstStyle/>
          <a:p>
            <a:pPr marL="0" indent="0" algn="l">
              <a:buNone/>
            </a:pPr>
            <a:r>
              <a:rPr lang="en-US" sz="1275" b="1" dirty="0">
                <a:solidFill>
                  <a:srgbClr val="FFFFFF"/>
                </a:solidFill>
                <a:latin typeface="Georgia" pitchFamily="34" charset="0"/>
                <a:ea typeface="Georgia" pitchFamily="34" charset="-122"/>
                <a:cs typeface="Georgia" pitchFamily="34" charset="-120"/>
              </a:rPr>
              <a:t>5 · Discussion</a:t>
            </a:r>
            <a:endParaRPr lang="en-US" sz="1275" dirty="0"/>
          </a:p>
        </p:txBody>
      </p:sp>
      <p:sp>
        <p:nvSpPr>
          <p:cNvPr id="51" name="Shape 46"/>
          <p:cNvSpPr/>
          <p:nvPr/>
        </p:nvSpPr>
        <p:spPr>
          <a:xfrm>
            <a:off x="6267450" y="2779117"/>
            <a:ext cx="2819400" cy="601663"/>
          </a:xfrm>
          <a:prstGeom prst="rect">
            <a:avLst/>
          </a:prstGeom>
          <a:solidFill>
            <a:srgbClr val="FFFFFF"/>
          </a:solidFill>
          <a:ln/>
        </p:spPr>
        <p:txBody>
          <a:bodyPr/>
          <a:p/>
        </p:txBody>
      </p:sp>
      <p:sp>
        <p:nvSpPr>
          <p:cNvPr id="52" name="Shape 47"/>
          <p:cNvSpPr/>
          <p:nvPr/>
        </p:nvSpPr>
        <p:spPr>
          <a:xfrm>
            <a:off x="6267450" y="3374430"/>
            <a:ext cx="2819400" cy="9525"/>
          </a:xfrm>
          <a:prstGeom prst="rect">
            <a:avLst/>
          </a:prstGeom>
          <a:solidFill>
            <a:srgbClr val="D9E0EA"/>
          </a:solidFill>
          <a:ln/>
        </p:spPr>
        <p:txBody>
          <a:bodyPr/>
          <a:p/>
        </p:txBody>
      </p:sp>
      <p:sp>
        <p:nvSpPr>
          <p:cNvPr id="53" name="Shape 48"/>
          <p:cNvSpPr/>
          <p:nvPr/>
        </p:nvSpPr>
        <p:spPr>
          <a:xfrm>
            <a:off x="6267450" y="2779117"/>
            <a:ext cx="9525" cy="601663"/>
          </a:xfrm>
          <a:prstGeom prst="rect">
            <a:avLst/>
          </a:prstGeom>
          <a:solidFill>
            <a:srgbClr val="D9E0EA"/>
          </a:solidFill>
          <a:ln/>
        </p:spPr>
        <p:txBody>
          <a:bodyPr/>
          <a:p/>
        </p:txBody>
      </p:sp>
      <p:sp>
        <p:nvSpPr>
          <p:cNvPr id="54" name="Shape 49"/>
          <p:cNvSpPr/>
          <p:nvPr/>
        </p:nvSpPr>
        <p:spPr>
          <a:xfrm>
            <a:off x="9080500" y="2779117"/>
            <a:ext cx="9525" cy="601663"/>
          </a:xfrm>
          <a:prstGeom prst="rect">
            <a:avLst/>
          </a:prstGeom>
          <a:solidFill>
            <a:srgbClr val="D9E0EA"/>
          </a:solidFill>
          <a:ln/>
        </p:spPr>
        <p:txBody>
          <a:bodyPr/>
          <a:p/>
        </p:txBody>
      </p:sp>
      <p:sp>
        <p:nvSpPr>
          <p:cNvPr id="55" name="Text 50"/>
          <p:cNvSpPr/>
          <p:nvPr/>
        </p:nvSpPr>
        <p:spPr>
          <a:xfrm>
            <a:off x="6397625" y="2883892"/>
            <a:ext cx="2643632" cy="4238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sz="1013" i="1">
                <a:solidFill>
                  <a:srgbClr val="8C95A4"/>
                </a:solidFill>
                <a:latin typeface="Arial"/>
              </a:rPr>
              <a:t>Among infrastructure-free links, only satellite systems survive a disaster: COSPAS-SARSAT carries no user-definable triage payload and commercial alternatives need proprietary networks. BeiDou regional SMC pairs a user-definable payload with single-digit-second response — the same 112-bit budget the distress incumbent spends on identity alone here carries a complete six-field triage record. Because the campaign characterises the channel independently of payload, the smaller binary frame inherits this reliability as a conservative lower bound.</a:t>
            </a:r>
            <a:endParaRPr lang="en-US" sz="1013" dirty="0"/>
          </a:p>
        </p:txBody>
      </p:sp>
      <p:sp>
        <p:nvSpPr>
          <p:cNvPr id="56" name="Shape 51"/>
          <p:cNvSpPr/>
          <p:nvPr/>
        </p:nvSpPr>
        <p:spPr>
          <a:xfrm>
            <a:off x="6267450" y="3533180"/>
            <a:ext cx="2819400" cy="355600"/>
          </a:xfrm>
          <a:prstGeom prst="rect">
            <a:avLst/>
          </a:prstGeom>
          <a:solidFill>
            <a:srgbClr val="0C2D62"/>
          </a:solidFill>
          <a:ln/>
        </p:spPr>
        <p:txBody>
          <a:bodyPr/>
          <a:p/>
        </p:txBody>
      </p:sp>
      <p:sp>
        <p:nvSpPr>
          <p:cNvPr id="57" name="Text 52"/>
          <p:cNvSpPr/>
          <p:nvPr/>
        </p:nvSpPr>
        <p:spPr>
          <a:xfrm>
            <a:off x="6391275" y="3599855"/>
            <a:ext cx="2656332" cy="260350"/>
          </a:xfrm>
          <a:prstGeom prst="rect">
            <a:avLst/>
          </a:prstGeom>
          <a:noFill/>
          <a:ln/>
        </p:spPr>
        <p:txBody>
          <a:bodyPr wrap="square" lIns="25400" tIns="25400" rIns="25400" bIns="25400" rtlCol="0" anchor="t">
            <a:normAutofit/>
          </a:bodyPr>
          <a:lstStyle/>
          <a:p>
            <a:pPr marL="0" indent="0" algn="l">
              <a:buNone/>
            </a:pPr>
            <a:r>
              <a:rPr lang="en-US" sz="1275" b="1" dirty="0">
                <a:solidFill>
                  <a:srgbClr val="FFFFFF"/>
                </a:solidFill>
                <a:latin typeface="Georgia" pitchFamily="34" charset="0"/>
                <a:ea typeface="Georgia" pitchFamily="34" charset="-122"/>
                <a:cs typeface="Georgia" pitchFamily="34" charset="-120"/>
              </a:rPr>
              <a:t>6 · Conclusions</a:t>
            </a:r>
            <a:endParaRPr lang="en-US" sz="1275" dirty="0"/>
          </a:p>
        </p:txBody>
      </p:sp>
      <p:sp>
        <p:nvSpPr>
          <p:cNvPr id="58" name="Shape 53"/>
          <p:cNvSpPr/>
          <p:nvPr/>
        </p:nvSpPr>
        <p:spPr>
          <a:xfrm>
            <a:off x="6267450" y="3888779"/>
            <a:ext cx="2819400" cy="601663"/>
          </a:xfrm>
          <a:prstGeom prst="rect">
            <a:avLst/>
          </a:prstGeom>
          <a:solidFill>
            <a:srgbClr val="FFFFFF"/>
          </a:solidFill>
          <a:ln/>
        </p:spPr>
        <p:txBody>
          <a:bodyPr/>
          <a:p/>
        </p:txBody>
      </p:sp>
      <p:sp>
        <p:nvSpPr>
          <p:cNvPr id="59" name="Shape 54"/>
          <p:cNvSpPr/>
          <p:nvPr/>
        </p:nvSpPr>
        <p:spPr>
          <a:xfrm>
            <a:off x="6267450" y="4484092"/>
            <a:ext cx="2819400" cy="9525"/>
          </a:xfrm>
          <a:prstGeom prst="rect">
            <a:avLst/>
          </a:prstGeom>
          <a:solidFill>
            <a:srgbClr val="D9E0EA"/>
          </a:solidFill>
          <a:ln/>
        </p:spPr>
        <p:txBody>
          <a:bodyPr/>
          <a:p/>
        </p:txBody>
      </p:sp>
      <p:sp>
        <p:nvSpPr>
          <p:cNvPr id="60" name="Shape 55"/>
          <p:cNvSpPr/>
          <p:nvPr/>
        </p:nvSpPr>
        <p:spPr>
          <a:xfrm>
            <a:off x="6267450" y="3888779"/>
            <a:ext cx="9525" cy="601663"/>
          </a:xfrm>
          <a:prstGeom prst="rect">
            <a:avLst/>
          </a:prstGeom>
          <a:solidFill>
            <a:srgbClr val="D9E0EA"/>
          </a:solidFill>
          <a:ln/>
        </p:spPr>
        <p:txBody>
          <a:bodyPr/>
          <a:p/>
        </p:txBody>
      </p:sp>
      <p:sp>
        <p:nvSpPr>
          <p:cNvPr id="61" name="Shape 56"/>
          <p:cNvSpPr/>
          <p:nvPr/>
        </p:nvSpPr>
        <p:spPr>
          <a:xfrm>
            <a:off x="9080500" y="3888779"/>
            <a:ext cx="9525" cy="601663"/>
          </a:xfrm>
          <a:prstGeom prst="rect">
            <a:avLst/>
          </a:prstGeom>
          <a:solidFill>
            <a:srgbClr val="D9E0EA"/>
          </a:solidFill>
          <a:ln/>
        </p:spPr>
        <p:txBody>
          <a:bodyPr/>
          <a:p/>
        </p:txBody>
      </p:sp>
      <p:sp>
        <p:nvSpPr>
          <p:cNvPr id="62" name="Text 57"/>
          <p:cNvSpPr/>
          <p:nvPr/>
        </p:nvSpPr>
        <p:spPr>
          <a:xfrm>
            <a:off x="6397625" y="3993554"/>
            <a:ext cx="2643632" cy="4238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sz="1013" i="1">
                <a:solidFill>
                  <a:srgbClr val="8C95A4"/>
                </a:solidFill>
                <a:latin typeface="Arial"/>
              </a:rPr>
              <a:t>A complete survivor record fits one 112-bit BeiDou message and decodes losslessly. The link delivered 232/232 transmissions (Wilson ≥ 93.7%) at ~2.6 s latency. The decoded coordinate autonomously triggers a UAV mission — integrated and verified — closing a loop prior systems leave at a human operator.</a:t>
            </a:r>
            <a:endParaRPr lang="en-US" sz="1013" dirty="0"/>
          </a:p>
        </p:txBody>
      </p:sp>
      <p:sp>
        <p:nvSpPr>
          <p:cNvPr id="63" name="Shape 58"/>
          <p:cNvSpPr/>
          <p:nvPr/>
        </p:nvSpPr>
        <p:spPr>
          <a:xfrm>
            <a:off x="6267450" y="4642842"/>
            <a:ext cx="2819400" cy="355600"/>
          </a:xfrm>
          <a:prstGeom prst="rect">
            <a:avLst/>
          </a:prstGeom>
          <a:solidFill>
            <a:srgbClr val="0C2D62"/>
          </a:solidFill>
          <a:ln/>
        </p:spPr>
        <p:txBody>
          <a:bodyPr/>
          <a:p/>
        </p:txBody>
      </p:sp>
      <p:sp>
        <p:nvSpPr>
          <p:cNvPr id="64" name="Text 59"/>
          <p:cNvSpPr/>
          <p:nvPr/>
        </p:nvSpPr>
        <p:spPr>
          <a:xfrm>
            <a:off x="6391275" y="4709517"/>
            <a:ext cx="2656332" cy="260350"/>
          </a:xfrm>
          <a:prstGeom prst="rect">
            <a:avLst/>
          </a:prstGeom>
          <a:noFill/>
          <a:ln/>
        </p:spPr>
        <p:txBody>
          <a:bodyPr wrap="square" lIns="25400" tIns="25400" rIns="25400" bIns="25400" rtlCol="0" anchor="t">
            <a:normAutofit/>
          </a:bodyPr>
          <a:lstStyle/>
          <a:p>
            <a:pPr marL="0" indent="0" algn="l">
              <a:buNone/>
            </a:pPr>
            <a:r>
              <a:rPr lang="en-US" sz="1275" b="1" dirty="0">
                <a:solidFill>
                  <a:srgbClr val="FFFFFF"/>
                </a:solidFill>
                <a:latin typeface="Georgia" pitchFamily="34" charset="0"/>
                <a:ea typeface="Georgia" pitchFamily="34" charset="-122"/>
                <a:cs typeface="Georgia" pitchFamily="34" charset="-120"/>
              </a:rPr>
              <a:t>7 · Future Work</a:t>
            </a:r>
            <a:endParaRPr lang="en-US" sz="1275" dirty="0"/>
          </a:p>
        </p:txBody>
      </p:sp>
      <p:sp>
        <p:nvSpPr>
          <p:cNvPr id="65" name="Shape 60"/>
          <p:cNvSpPr/>
          <p:nvPr/>
        </p:nvSpPr>
        <p:spPr>
          <a:xfrm>
            <a:off x="6267450" y="4998442"/>
            <a:ext cx="2819400" cy="601663"/>
          </a:xfrm>
          <a:prstGeom prst="rect">
            <a:avLst/>
          </a:prstGeom>
          <a:solidFill>
            <a:srgbClr val="FFFFFF"/>
          </a:solidFill>
          <a:ln/>
        </p:spPr>
        <p:txBody>
          <a:bodyPr/>
          <a:p/>
        </p:txBody>
      </p:sp>
      <p:sp>
        <p:nvSpPr>
          <p:cNvPr id="66" name="Shape 61"/>
          <p:cNvSpPr/>
          <p:nvPr/>
        </p:nvSpPr>
        <p:spPr>
          <a:xfrm>
            <a:off x="6267450" y="5593755"/>
            <a:ext cx="2819400" cy="9525"/>
          </a:xfrm>
          <a:prstGeom prst="rect">
            <a:avLst/>
          </a:prstGeom>
          <a:solidFill>
            <a:srgbClr val="D9E0EA"/>
          </a:solidFill>
          <a:ln/>
        </p:spPr>
        <p:txBody>
          <a:bodyPr/>
          <a:p/>
        </p:txBody>
      </p:sp>
      <p:sp>
        <p:nvSpPr>
          <p:cNvPr id="67" name="Shape 62"/>
          <p:cNvSpPr/>
          <p:nvPr/>
        </p:nvSpPr>
        <p:spPr>
          <a:xfrm>
            <a:off x="6267450" y="4998442"/>
            <a:ext cx="9525" cy="601663"/>
          </a:xfrm>
          <a:prstGeom prst="rect">
            <a:avLst/>
          </a:prstGeom>
          <a:solidFill>
            <a:srgbClr val="D9E0EA"/>
          </a:solidFill>
          <a:ln/>
        </p:spPr>
        <p:txBody>
          <a:bodyPr/>
          <a:p/>
        </p:txBody>
      </p:sp>
      <p:sp>
        <p:nvSpPr>
          <p:cNvPr id="68" name="Shape 63"/>
          <p:cNvSpPr/>
          <p:nvPr/>
        </p:nvSpPr>
        <p:spPr>
          <a:xfrm>
            <a:off x="9080500" y="4998442"/>
            <a:ext cx="9525" cy="601663"/>
          </a:xfrm>
          <a:prstGeom prst="rect">
            <a:avLst/>
          </a:prstGeom>
          <a:solidFill>
            <a:srgbClr val="D9E0EA"/>
          </a:solidFill>
          <a:ln/>
        </p:spPr>
        <p:txBody>
          <a:bodyPr/>
          <a:p/>
        </p:txBody>
      </p:sp>
      <p:sp>
        <p:nvSpPr>
          <p:cNvPr id="69" name="Text 64"/>
          <p:cNvSpPr/>
          <p:nvPr/>
        </p:nvSpPr>
        <p:spPr>
          <a:xfrm>
            <a:off x="6397625" y="5103217"/>
            <a:ext cx="2643632" cy="4238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sz="1013" i="1">
                <a:solidFill>
                  <a:srgbClr val="8C95A4"/>
                </a:solidFill>
                <a:latin typeface="Arial"/>
              </a:rPr>
              <a:t>• Physical satellite transmission of the 112-bit frame (the one open boundary)</a:t>
            </a:r>
            <a:endParaRPr lang="en-US" sz="1013" dirty="0"/>
          </a:p>
          <a:p>
            <a:r>
              <a:rPr sz="1013" i="1">
                <a:solidFill>
                  <a:srgbClr val="8C95A4"/>
                </a:solidFill>
                <a:latin typeface="Arial"/>
              </a:rPr>
              <a:t>• Diurnal latency characterisation on the operational payload</a:t>
            </a:r>
          </a:p>
          <a:p>
            <a:r>
              <a:rPr sz="1013" i="1">
                <a:solidFill>
                  <a:srgbClr val="8C95A4"/>
                </a:solidFill>
                <a:latin typeface="Arial"/>
              </a:rPr>
              <a:t>• Distinct-coordinate / deep-fade reliability trials</a:t>
            </a:r>
          </a:p>
          <a:p>
            <a:r>
              <a:rPr sz="1013" i="1">
                <a:solidFill>
                  <a:srgbClr val="8C95A4"/>
                </a:solidFill>
                <a:latin typeface="Arial"/>
              </a:rPr>
              <a:t>• Promote triage fields into the shared message for search-radius-aware planning</a:t>
            </a:r>
          </a:p>
        </p:txBody>
      </p:sp>
      <p:sp>
        <p:nvSpPr>
          <p:cNvPr id="70" name="Shape 65"/>
          <p:cNvSpPr/>
          <p:nvPr/>
        </p:nvSpPr>
        <p:spPr>
          <a:xfrm>
            <a:off x="6267450" y="5752505"/>
            <a:ext cx="2819400" cy="355600"/>
          </a:xfrm>
          <a:prstGeom prst="rect">
            <a:avLst/>
          </a:prstGeom>
          <a:solidFill>
            <a:srgbClr val="0C2D62"/>
          </a:solidFill>
          <a:ln/>
        </p:spPr>
        <p:txBody>
          <a:bodyPr/>
          <a:p/>
        </p:txBody>
      </p:sp>
      <p:sp>
        <p:nvSpPr>
          <p:cNvPr id="71" name="Text 66"/>
          <p:cNvSpPr/>
          <p:nvPr/>
        </p:nvSpPr>
        <p:spPr>
          <a:xfrm>
            <a:off x="6391275" y="5819180"/>
            <a:ext cx="2656332" cy="260350"/>
          </a:xfrm>
          <a:prstGeom prst="rect">
            <a:avLst/>
          </a:prstGeom>
          <a:noFill/>
          <a:ln/>
        </p:spPr>
        <p:txBody>
          <a:bodyPr wrap="square" lIns="25400" tIns="25400" rIns="25400" bIns="25400" rtlCol="0" anchor="t">
            <a:normAutofit/>
          </a:bodyPr>
          <a:lstStyle/>
          <a:p>
            <a:pPr marL="0" indent="0" algn="l">
              <a:buNone/>
            </a:pPr>
            <a:r>
              <a:rPr lang="en-US" sz="1275" b="1" dirty="0">
                <a:solidFill>
                  <a:srgbClr val="FFFFFF"/>
                </a:solidFill>
                <a:latin typeface="Georgia" pitchFamily="34" charset="0"/>
                <a:ea typeface="Georgia" pitchFamily="34" charset="-122"/>
                <a:cs typeface="Georgia" pitchFamily="34" charset="-120"/>
              </a:rPr>
              <a:t>References</a:t>
            </a:r>
            <a:endParaRPr lang="en-US" sz="1275" dirty="0"/>
          </a:p>
        </p:txBody>
      </p:sp>
      <p:sp>
        <p:nvSpPr>
          <p:cNvPr id="72" name="Shape 67"/>
          <p:cNvSpPr/>
          <p:nvPr/>
        </p:nvSpPr>
        <p:spPr>
          <a:xfrm>
            <a:off x="6267450" y="6108104"/>
            <a:ext cx="2819400" cy="519708"/>
          </a:xfrm>
          <a:prstGeom prst="rect">
            <a:avLst/>
          </a:prstGeom>
          <a:solidFill>
            <a:srgbClr val="FFFFFF"/>
          </a:solidFill>
          <a:ln/>
        </p:spPr>
        <p:txBody>
          <a:bodyPr/>
          <a:p/>
        </p:txBody>
      </p:sp>
      <p:sp>
        <p:nvSpPr>
          <p:cNvPr id="73" name="Shape 68"/>
          <p:cNvSpPr/>
          <p:nvPr/>
        </p:nvSpPr>
        <p:spPr>
          <a:xfrm>
            <a:off x="6267450" y="6621462"/>
            <a:ext cx="2819400" cy="9525"/>
          </a:xfrm>
          <a:prstGeom prst="rect">
            <a:avLst/>
          </a:prstGeom>
          <a:solidFill>
            <a:srgbClr val="D9E0EA"/>
          </a:solidFill>
          <a:ln/>
        </p:spPr>
        <p:txBody>
          <a:bodyPr/>
          <a:p/>
        </p:txBody>
      </p:sp>
      <p:sp>
        <p:nvSpPr>
          <p:cNvPr id="74" name="Shape 69"/>
          <p:cNvSpPr/>
          <p:nvPr/>
        </p:nvSpPr>
        <p:spPr>
          <a:xfrm>
            <a:off x="6267450" y="6108104"/>
            <a:ext cx="9525" cy="519708"/>
          </a:xfrm>
          <a:prstGeom prst="rect">
            <a:avLst/>
          </a:prstGeom>
          <a:solidFill>
            <a:srgbClr val="D9E0EA"/>
          </a:solidFill>
          <a:ln/>
        </p:spPr>
        <p:txBody>
          <a:bodyPr/>
          <a:p/>
        </p:txBody>
      </p:sp>
      <p:sp>
        <p:nvSpPr>
          <p:cNvPr id="75" name="Shape 70"/>
          <p:cNvSpPr/>
          <p:nvPr/>
        </p:nvSpPr>
        <p:spPr>
          <a:xfrm>
            <a:off x="9080500" y="6108104"/>
            <a:ext cx="9525" cy="519708"/>
          </a:xfrm>
          <a:prstGeom prst="rect">
            <a:avLst/>
          </a:prstGeom>
          <a:solidFill>
            <a:srgbClr val="D9E0EA"/>
          </a:solidFill>
          <a:ln/>
        </p:spPr>
        <p:txBody>
          <a:bodyPr/>
          <a:p/>
        </p:txBody>
      </p:sp>
      <p:sp>
        <p:nvSpPr>
          <p:cNvPr id="76" name="Text 71"/>
          <p:cNvSpPr/>
          <p:nvPr/>
        </p:nvSpPr>
        <p:spPr>
          <a:xfrm>
            <a:off x="6397625" y="6212879"/>
            <a:ext cx="2643632" cy="341908"/>
          </a:xfrm>
          <a:prstGeom prst="rect">
            <a:avLst/>
          </a:prstGeom>
          <a:noFill/>
          <a:ln/>
        </p:spPr>
        <p:txBody>
          <a:bodyPr wrap="square" lIns="25400" tIns="25400" rIns="25400" bIns="25400" rtlCol="0" anchor="t">
            <a:normAutofit fontScale="85000" lnSpcReduction="10000"/>
          </a:bodyPr>
          <a:lstStyle/>
          <a:p>
            <a:pPr marL="0" indent="0" algn="l">
              <a:lnSpc>
                <a:spcPct val="145000"/>
              </a:lnSpc>
              <a:buNone/>
            </a:pPr>
            <a:r>
              <a:rPr sz="825" i="1">
                <a:solidFill>
                  <a:srgbClr val="8C95A4"/>
                </a:solidFill>
                <a:latin typeface="Arial"/>
              </a:rPr>
              <a:t>[1] China Satellite Navigation Office. BeiDou-3 RDSS / Short Message Service ICD.</a:t>
            </a:r>
            <a:endParaRPr lang="en-US" sz="825" dirty="0"/>
          </a:p>
          <a:p>
            <a:r>
              <a:rPr sz="825" i="1">
                <a:solidFill>
                  <a:srgbClr val="8C95A4"/>
                </a:solidFill>
                <a:latin typeface="Arial"/>
              </a:rPr>
              <a:t>[2] COSPAS-SARSAT. T.001 — 406 MHz Distress Beacon Specification.</a:t>
            </a:r>
          </a:p>
          <a:p>
            <a:r>
              <a:rPr sz="825" i="1">
                <a:solidFill>
                  <a:srgbClr val="8C95A4"/>
                </a:solidFill>
                <a:latin typeface="Arial"/>
              </a:rPr>
              <a:t>[3] BeiDou short message latency. Space: Science &amp; Technology, 2022.</a:t>
            </a:r>
          </a:p>
          <a:p>
            <a:r>
              <a:rPr sz="825" i="1">
                <a:solidFill>
                  <a:srgbClr val="8C95A4"/>
                </a:solidFill>
                <a:latin typeface="Arial"/>
              </a:rPr>
              <a:t>[4] PX4 Autopilot &amp; QGroundControl Documentation, 2024.</a:t>
            </a:r>
          </a:p>
        </p:txBody>
      </p:sp>
      <p:sp>
        <p:nvSpPr>
          <p:cNvPr id="77" name="Shape 72"/>
          <p:cNvSpPr/>
          <p:nvPr/>
        </p:nvSpPr>
        <p:spPr>
          <a:xfrm>
            <a:off x="6267450" y="6780212"/>
            <a:ext cx="704850" cy="704850"/>
          </a:xfrm>
          <a:prstGeom prst="roundRect">
            <a:avLst>
              <a:gd name="adj" fmla="val 5405"/>
            </a:avLst>
          </a:prstGeom>
          <a:ln w="12700">
            <a:solidFill>
              <a:srgbClr val="B7C2D3"/>
            </a:solidFill>
            <a:prstDash val="dash"/>
          </a:ln>
        </p:spPr>
        <p:txBody>
          <a:bodyPr/>
          <a:p/>
        </p:txBody>
      </p:sp>
      <p:sp>
        <p:nvSpPr>
          <p:cNvPr id="78" name="Text 73"/>
          <p:cNvSpPr/>
          <p:nvPr/>
        </p:nvSpPr>
        <p:spPr>
          <a:xfrm>
            <a:off x="6242050" y="6792912"/>
            <a:ext cx="755650" cy="717550"/>
          </a:xfrm>
          <a:prstGeom prst="rect">
            <a:avLst/>
          </a:prstGeom>
          <a:noFill/>
          <a:ln/>
        </p:spPr>
        <p:txBody>
          <a:bodyPr wrap="square" lIns="25400" tIns="25400" rIns="25400" bIns="25400" rtlCol="0" anchor="ctr">
            <a:normAutofit/>
          </a:bodyPr>
          <a:lstStyle/>
          <a:p>
            <a:pPr marL="0" indent="0" algn="ctr">
              <a:buNone/>
            </a:pPr>
            <a:r>
              <a:rPr lang="en-US" sz="750" dirty="0">
                <a:solidFill>
                  <a:srgbClr val="9AA3B2"/>
                </a:solidFill>
                <a:latin typeface="Courier New" pitchFamily="34" charset="0"/>
                <a:ea typeface="Courier New" pitchFamily="34" charset="-122"/>
                <a:cs typeface="Courier New" pitchFamily="34" charset="-120"/>
              </a:rPr>
              <a:t>QR</a:t>
            </a:r>
            <a:endParaRPr lang="en-US" sz="750" dirty="0"/>
          </a:p>
        </p:txBody>
      </p:sp>
      <p:sp>
        <p:nvSpPr>
          <p:cNvPr id="79" name="Shape 74"/>
          <p:cNvSpPr/>
          <p:nvPr/>
        </p:nvSpPr>
        <p:spPr>
          <a:xfrm>
            <a:off x="7077075" y="6780212"/>
            <a:ext cx="2009775" cy="819150"/>
          </a:xfrm>
          <a:prstGeom prst="rect">
            <a:avLst/>
          </a:prstGeom>
          <a:ln w="6350">
            <a:solidFill>
              <a:srgbClr val="D9E0EA"/>
            </a:solidFill>
            <a:prstDash val="solid"/>
          </a:ln>
        </p:spPr>
        <p:txBody>
          <a:bodyPr/>
          <a:p/>
        </p:txBody>
      </p:sp>
      <p:sp>
        <p:nvSpPr>
          <p:cNvPr id="80" name="Text 75"/>
          <p:cNvSpPr/>
          <p:nvPr/>
        </p:nvSpPr>
        <p:spPr>
          <a:xfrm>
            <a:off x="7188200" y="6872287"/>
            <a:ext cx="1863725" cy="67310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sz="863" b="1">
                <a:solidFill>
                  <a:srgbClr val="0C2D62"/>
                </a:solidFill>
                <a:latin typeface="Arial"/>
              </a:rPr>
              <a:t>Letsoalo Maile · Letsoalomaile1@gmail.com · WP5 BeiDou Communication. Supervisors: Yan Dayun, Yang Dongkai. School of Astronautics, Beihang University · RCSSTEAP. QR links to the full report and reproducible code &amp; data.</a:t>
            </a:r>
            <a:endParaRPr lang="en-US" sz="863" dirty="0"/>
          </a:p>
        </p:txBody>
      </p:sp>
      <p:sp>
        <p:nvSpPr>
          <p:cNvPr id="81" name="Shape 76"/>
          <p:cNvSpPr/>
          <p:nvPr/>
        </p:nvSpPr>
        <p:spPr>
          <a:xfrm>
            <a:off x="0" y="12449176"/>
            <a:ext cx="9334500" cy="752475"/>
          </a:xfrm>
          <a:prstGeom prst="rect">
            <a:avLst/>
          </a:prstGeom>
          <a:solidFill>
            <a:srgbClr val="081F44"/>
          </a:solidFill>
          <a:ln/>
        </p:spPr>
        <p:txBody>
          <a:bodyPr/>
          <a:p/>
        </p:txBody>
      </p:sp>
      <p:sp>
        <p:nvSpPr>
          <p:cNvPr id="82" name="Shape 77"/>
          <p:cNvSpPr/>
          <p:nvPr/>
        </p:nvSpPr>
        <p:spPr>
          <a:xfrm>
            <a:off x="0" y="12449176"/>
            <a:ext cx="9334500" cy="28575"/>
          </a:xfrm>
          <a:prstGeom prst="rect">
            <a:avLst/>
          </a:prstGeom>
          <a:gradFill rotWithShape="1">
            <a:gsLst>
              <a:gs pos="0">
                <a:srgbClr val="B98B2E">
                  <a:alpha val="100000"/>
                </a:srgbClr>
              </a:gs>
              <a:gs pos="16000">
                <a:srgbClr val="B98B2E">
                  <a:alpha val="100000"/>
                </a:srgbClr>
              </a:gs>
              <a:gs pos="52000">
                <a:srgbClr val="B98B2E">
                  <a:alpha val="0"/>
                </a:srgbClr>
              </a:gs>
            </a:gsLst>
            <a:lin ang="0" scaled="0"/>
          </a:gradFill>
          <a:ln/>
        </p:spPr>
        <p:txBody>
          <a:bodyPr/>
          <a:p/>
        </p:txBody>
      </p:sp>
      <p:sp>
        <p:nvSpPr>
          <p:cNvPr id="83" name="Shape 78"/>
          <p:cNvSpPr/>
          <p:nvPr/>
        </p:nvSpPr>
        <p:spPr>
          <a:xfrm>
            <a:off x="8096250" y="12477751"/>
            <a:ext cx="1238250" cy="723900"/>
          </a:xfrm>
          <a:prstGeom prst="rect">
            <a:avLst/>
          </a:prstGeom>
          <a:gradFill rotWithShape="1">
            <a:gsLst>
              <a:gs pos="55000">
                <a:srgbClr val="FFFFFF">
                  <a:alpha val="0"/>
                </a:srgbClr>
              </a:gs>
              <a:gs pos="55000">
                <a:srgbClr val="FFFFFF">
                  <a:alpha val="5000"/>
                </a:srgbClr>
              </a:gs>
            </a:gsLst>
            <a:lin ang="1800000" scaled="0"/>
          </a:gradFill>
          <a:ln/>
        </p:spPr>
        <p:txBody>
          <a:bodyPr/>
          <a:p/>
        </p:txBody>
      </p:sp>
      <p:sp>
        <p:nvSpPr>
          <p:cNvPr id="84" name="Shape 79"/>
          <p:cNvSpPr/>
          <p:nvPr/>
        </p:nvSpPr>
        <p:spPr>
          <a:xfrm>
            <a:off x="266700" y="12620626"/>
            <a:ext cx="1789609" cy="438150"/>
          </a:xfrm>
          <a:prstGeom prst="roundRect">
            <a:avLst>
              <a:gd name="adj" fmla="val 15217"/>
            </a:avLst>
          </a:prstGeom>
          <a:solidFill>
            <a:srgbClr val="FFFFFF"/>
          </a:solidFill>
          <a:ln/>
          <a:effectLst>
            <a:outerShdw blurRad="76200" dist="19050" dir="5400000" algn="bl" rotWithShape="0">
              <a:srgbClr val="000000">
                <a:alpha val="28000"/>
              </a:srgbClr>
            </a:outerShdw>
          </a:effectLst>
        </p:spPr>
        <p:txBody>
          <a:bodyPr/>
          <a:p/>
        </p:txBody>
      </p:sp>
      <p:pic>
        <p:nvPicPr>
          <p:cNvPr id="85" name="Image 3" descr="preencoded.png"/>
          <p:cNvPicPr>
            <a:picLocks noChangeAspect="1"/>
          </p:cNvPicPr>
          <p:nvPr/>
        </p:nvPicPr>
        <p:blipFill>
          <a:blip r:embed="rId6"/>
          <a:stretch>
            <a:fillRect/>
          </a:stretch>
        </p:blipFill>
        <p:spPr>
          <a:xfrm>
            <a:off x="400050" y="12696826"/>
            <a:ext cx="1522909" cy="285750"/>
          </a:xfrm>
          <a:prstGeom prst="rect">
            <a:avLst/>
          </a:prstGeom>
        </p:spPr>
      </p:pic>
      <p:sp>
        <p:nvSpPr>
          <p:cNvPr id="86" name="Text 80"/>
          <p:cNvSpPr/>
          <p:nvPr/>
        </p:nvSpPr>
        <p:spPr>
          <a:xfrm>
            <a:off x="2265859" y="12676187"/>
            <a:ext cx="5900579" cy="19685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863" b="1" kern="0" spc="9" dirty="0">
                <a:solidFill>
                  <a:srgbClr val="E6EBF4"/>
                </a:solidFill>
                <a:latin typeface="Arial" pitchFamily="34" charset="0"/>
                <a:ea typeface="Arial" pitchFamily="34" charset="-122"/>
                <a:cs typeface="Arial" pitchFamily="34" charset="-120"/>
              </a:rPr>
              <a:t>Regional Centre for Space Science &amp; Technology Education in Asia &amp; the Pacific (China)</a:t>
            </a:r>
            <a:endParaRPr lang="en-US" sz="863" dirty="0"/>
          </a:p>
        </p:txBody>
      </p:sp>
      <p:sp>
        <p:nvSpPr>
          <p:cNvPr id="87" name="Text 81"/>
          <p:cNvSpPr/>
          <p:nvPr/>
        </p:nvSpPr>
        <p:spPr>
          <a:xfrm>
            <a:off x="2265859" y="12844463"/>
            <a:ext cx="5900579" cy="19685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863" dirty="0">
                <a:solidFill>
                  <a:srgbClr val="93A3C0"/>
                </a:solidFill>
                <a:latin typeface="Arial" pitchFamily="34" charset="0"/>
                <a:ea typeface="Arial" pitchFamily="34" charset="-122"/>
                <a:cs typeface="Arial" pitchFamily="34" charset="-120"/>
              </a:rPr>
              <a:t>School of Astronautics · Beihang University · Beijing, China</a:t>
            </a:r>
            <a:endParaRPr lang="en-US" sz="863" dirty="0"/>
          </a:p>
        </p:txBody>
      </p:sp>
      <p:sp>
        <p:nvSpPr>
          <p:cNvPr id="88" name="Shape 82"/>
          <p:cNvSpPr/>
          <p:nvPr/>
        </p:nvSpPr>
        <p:spPr>
          <a:xfrm>
            <a:off x="7839571" y="12620626"/>
            <a:ext cx="9525" cy="438150"/>
          </a:xfrm>
          <a:prstGeom prst="rect">
            <a:avLst/>
          </a:prstGeom>
          <a:solidFill>
            <a:srgbClr val="FFFFFF">
              <a:alpha val="14000"/>
            </a:srgbClr>
          </a:solidFill>
          <a:ln/>
        </p:spPr>
        <p:txBody>
          <a:bodyPr/>
          <a:p/>
        </p:txBody>
      </p:sp>
      <p:sp>
        <p:nvSpPr>
          <p:cNvPr id="89" name="Text 83"/>
          <p:cNvSpPr/>
          <p:nvPr/>
        </p:nvSpPr>
        <p:spPr>
          <a:xfrm>
            <a:off x="7982446" y="12700000"/>
            <a:ext cx="1085354" cy="158750"/>
          </a:xfrm>
          <a:prstGeom prst="rect">
            <a:avLst/>
          </a:prstGeom>
          <a:noFill/>
          <a:ln/>
        </p:spPr>
        <p:txBody>
          <a:bodyPr wrap="square" lIns="25400" tIns="25400" rIns="25400" bIns="25400" rtlCol="0" anchor="t">
            <a:normAutofit fontScale="92500" lnSpcReduction="20000"/>
          </a:bodyPr>
          <a:lstStyle/>
          <a:p>
            <a:pPr marL="0" indent="0" algn="r">
              <a:buNone/>
            </a:pPr>
            <a:r>
              <a:rPr lang="en-US" sz="825" kern="0" spc="165" dirty="0">
                <a:solidFill>
                  <a:srgbClr val="B98B2E"/>
                </a:solidFill>
                <a:latin typeface="Courier New" pitchFamily="34" charset="0"/>
                <a:ea typeface="Courier New" pitchFamily="34" charset="-122"/>
                <a:cs typeface="Courier New" pitchFamily="34" charset="-120"/>
              </a:rPr>
              <a:t>RCSSTEAP</a:t>
            </a:r>
            <a:endParaRPr lang="en-US" sz="825" dirty="0"/>
          </a:p>
        </p:txBody>
      </p:sp>
      <p:sp>
        <p:nvSpPr>
          <p:cNvPr id="90" name="Text 84"/>
          <p:cNvSpPr/>
          <p:nvPr/>
        </p:nvSpPr>
        <p:spPr>
          <a:xfrm>
            <a:off x="7982446" y="12839701"/>
            <a:ext cx="1085354" cy="177800"/>
          </a:xfrm>
          <a:prstGeom prst="rect">
            <a:avLst/>
          </a:prstGeom>
          <a:noFill/>
          <a:ln/>
        </p:spPr>
        <p:txBody>
          <a:bodyPr wrap="square" lIns="25400" tIns="25400" rIns="25400" bIns="25400" rtlCol="0" anchor="t">
            <a:normAutofit fontScale="92500"/>
          </a:bodyPr>
          <a:lstStyle/>
          <a:p>
            <a:pPr marL="0" indent="0" algn="r">
              <a:buNone/>
            </a:pPr>
            <a:r>
              <a:rPr lang="en-US" sz="788" dirty="0">
                <a:solidFill>
                  <a:srgbClr val="93A3C0"/>
                </a:solidFill>
                <a:latin typeface="Arial" pitchFamily="34" charset="0"/>
                <a:ea typeface="Arial" pitchFamily="34" charset="-122"/>
                <a:cs typeface="Arial" pitchFamily="34" charset="-120"/>
              </a:rPr>
              <a:t>www.rcssteap.org · 2026</a:t>
            </a:r>
            <a:endParaRPr lang="en-US" sz="788" dirty="0"/>
          </a:p>
        </p:txBody>
      </p:sp>
      <p:pic>
        <p:nvPicPr>
          <p:cNvPr id="92" name="Picture 91">
            <a:extLst>
              <a:ext uri="{FF2B5EF4-FFF2-40B4-BE49-F238E27FC236}">
                <a16:creationId xmlns:a16="http://schemas.microsoft.com/office/drawing/2014/main" id="{782B3177-1907-E4C3-1845-6AEF3650A9DB}"/>
              </a:ext>
            </a:extLst>
          </p:cNvPr>
          <p:cNvPicPr>
            <a:picLocks noChangeAspect="1"/>
          </p:cNvPicPr>
          <p:nvPr/>
        </p:nvPicPr>
        <p:blipFill>
          <a:blip r:embed="rId7"/>
          <a:stretch>
            <a:fillRect/>
          </a:stretch>
        </p:blipFill>
        <p:spPr>
          <a:xfrm>
            <a:off x="7993310" y="423267"/>
            <a:ext cx="1273252" cy="1279524"/>
          </a:xfrm>
          <a:prstGeom prst="rect">
            <a:avLst/>
          </a:prstGeom>
        </p:spPr>
      </p:pic>
      <p:sp>
        <p:nvSpPr>
          <p:cNvPr id="94" name="Shape 5">
            <a:extLst>
              <a:ext uri="{FF2B5EF4-FFF2-40B4-BE49-F238E27FC236}">
                <a16:creationId xmlns:a16="http://schemas.microsoft.com/office/drawing/2014/main" id="{D254D3CD-5442-7947-DC35-9EC1B280E4CA}"/>
              </a:ext>
            </a:extLst>
          </p:cNvPr>
          <p:cNvSpPr/>
          <p:nvPr/>
        </p:nvSpPr>
        <p:spPr>
          <a:xfrm>
            <a:off x="20098" y="410370"/>
            <a:ext cx="1409127" cy="1348382"/>
          </a:xfrm>
          <a:prstGeom prst="ellipse">
            <a:avLst/>
          </a:prstGeom>
          <a:solidFill>
            <a:srgbClr val="FFFFFF"/>
          </a:solidFill>
          <a:ln/>
          <a:effectLst>
            <a:outerShdw blurRad="66675" dist="19050" dir="5400000" algn="bl" rotWithShape="0">
              <a:srgbClr val="000000">
                <a:alpha val="22000"/>
              </a:srgbClr>
            </a:outerShdw>
          </a:effectLst>
        </p:spPr>
        <p:txBody>
          <a:bodyPr/>
          <a:lstStyle/>
          <a:p>
            <a:endParaRPr lang="en-US" dirty="0"/>
          </a:p>
        </p:txBody>
      </p:sp>
      <p:pic>
        <p:nvPicPr>
          <p:cNvPr id="96" name="Image 1" descr="preencoded.png">
            <a:extLst>
              <a:ext uri="{FF2B5EF4-FFF2-40B4-BE49-F238E27FC236}">
                <a16:creationId xmlns:a16="http://schemas.microsoft.com/office/drawing/2014/main" id="{2028B1E7-389D-5634-CFBB-9229E8574C10}"/>
              </a:ext>
            </a:extLst>
          </p:cNvPr>
          <p:cNvPicPr>
            <a:picLocks noChangeAspect="1"/>
          </p:cNvPicPr>
          <p:nvPr/>
        </p:nvPicPr>
        <p:blipFill>
          <a:blip r:embed="rId8"/>
          <a:srcRect/>
          <a:stretch/>
        </p:blipFill>
        <p:spPr>
          <a:xfrm>
            <a:off x="81228" y="440828"/>
            <a:ext cx="1286868" cy="1286868"/>
          </a:xfrm>
          <a:prstGeom prst="rect">
            <a:avLst/>
          </a:prstGeom>
        </p:spPr>
      </p:pic>
      <p:pic>
        <p:nvPicPr>
          <p:cNvPr id="97" name="Picture 96" descr="bds_node_workflow.png"/>
          <p:cNvPicPr>
            <a:picLocks noChangeAspect="1"/>
          </p:cNvPicPr>
          <p:nvPr/>
        </p:nvPicPr>
        <p:blipFill>
          <a:blip r:embed="rId9"/>
          <a:stretch>
            <a:fillRect/>
          </a:stretch>
        </p:blipFill>
        <p:spPr>
          <a:xfrm>
            <a:off x="3395536" y="2614269"/>
            <a:ext cx="2543429" cy="1536195"/>
          </a:xfrm>
          <a:prstGeom prst="rect">
            <a:avLst/>
          </a:prstGeom>
        </p:spPr>
      </p:pic>
      <p:pic>
        <p:nvPicPr>
          <p:cNvPr id="98" name="Picture 97" descr="gap3_success_rate.png"/>
          <p:cNvPicPr>
            <a:picLocks noChangeAspect="1"/>
          </p:cNvPicPr>
          <p:nvPr/>
        </p:nvPicPr>
        <p:blipFill>
          <a:blip r:embed="rId10"/>
          <a:stretch>
            <a:fillRect/>
          </a:stretch>
        </p:blipFill>
        <p:spPr>
          <a:xfrm>
            <a:off x="3464965" y="6508353"/>
            <a:ext cx="2404571" cy="1466850"/>
          </a:xfrm>
          <a:prstGeom prst="rect">
            <a:avLst/>
          </a:prstGeom>
        </p:spPr>
      </p:pic>
      <p:sp>
        <p:nvSpPr>
          <p:cNvPr id="99" name="Rounded Rectangle 98"/>
          <p:cNvSpPr/>
          <p:nvPr/>
        </p:nvSpPr>
        <p:spPr>
          <a:xfrm>
            <a:off x="246888" y="8613648"/>
            <a:ext cx="8833104" cy="310896"/>
          </a:xfrm>
          <a:prstGeom prst="roundRect">
            <a:avLst>
              <a:gd name="adj" fmla="val 18000"/>
            </a:avLst>
          </a:prstGeom>
          <a:solidFill>
            <a:srgbClr val="254372"/>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 bIns="12700" lIns="109728"/>
          <a:lstStyle/>
          <a:p>
            <a:pPr algn="l"/>
            <a:r>
              <a:rPr b="1" sz="1200">
                <a:solidFill>
                  <a:srgbClr val="FFFFFF"/>
                </a:solidFill>
                <a:latin typeface="Georgia"/>
              </a:rPr>
              <a:t>HEADLINE RESULTS</a:t>
            </a:r>
          </a:p>
        </p:txBody>
      </p:sp>
      <p:sp>
        <p:nvSpPr>
          <p:cNvPr id="100" name="Rectangle 99"/>
          <p:cNvSpPr/>
          <p:nvPr/>
        </p:nvSpPr>
        <p:spPr>
          <a:xfrm>
            <a:off x="246888" y="9015984"/>
            <a:ext cx="1678838" cy="841248"/>
          </a:xfrm>
          <a:prstGeom prst="rect">
            <a:avLst/>
          </a:prstGeom>
          <a:solidFill>
            <a:srgbClr val="FFFFFF"/>
          </a:solidFill>
          <a:ln w="12700">
            <a:solidFill>
              <a:srgbClr val="254372"/>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lIns="38100" rIns="38100"/>
          <a:lstStyle/>
          <a:p>
            <a:pPr algn="ctr"/>
            <a:r>
              <a:rPr b="1" sz="2200">
                <a:solidFill>
                  <a:srgbClr val="0C2D62"/>
                </a:solidFill>
                <a:latin typeface="Georgia"/>
              </a:rPr>
              <a:t>232 / 232</a:t>
            </a:r>
          </a:p>
          <a:p>
            <a:pPr algn="ctr"/>
            <a:r>
              <a:rPr sz="800">
                <a:solidFill>
                  <a:srgbClr val="8C95A4"/>
                </a:solidFill>
                <a:latin typeface="Arial"/>
              </a:rPr>
              <a:t>satellite-acknowledged transmissions, 4 environments</a:t>
            </a:r>
          </a:p>
        </p:txBody>
      </p:sp>
      <p:sp>
        <p:nvSpPr>
          <p:cNvPr id="101" name="Rectangle 100"/>
          <p:cNvSpPr/>
          <p:nvPr/>
        </p:nvSpPr>
        <p:spPr>
          <a:xfrm>
            <a:off x="2035454" y="9015984"/>
            <a:ext cx="1678838" cy="841248"/>
          </a:xfrm>
          <a:prstGeom prst="rect">
            <a:avLst/>
          </a:prstGeom>
          <a:solidFill>
            <a:srgbClr val="FFFFFF"/>
          </a:solidFill>
          <a:ln w="12700">
            <a:solidFill>
              <a:srgbClr val="254372"/>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lIns="38100" rIns="38100"/>
          <a:lstStyle/>
          <a:p>
            <a:pPr algn="ctr"/>
            <a:r>
              <a:rPr b="1" sz="2200">
                <a:solidFill>
                  <a:srgbClr val="0C2D62"/>
                </a:solidFill>
                <a:latin typeface="Georgia"/>
              </a:rPr>
              <a:t>≥ 93.7%</a:t>
            </a:r>
          </a:p>
          <a:p>
            <a:pPr algn="ctr"/>
            <a:r>
              <a:rPr sz="800">
                <a:solidFill>
                  <a:srgbClr val="8C95A4"/>
                </a:solidFill>
                <a:latin typeface="Arial"/>
              </a:rPr>
              <a:t>Wilson 95% lower bound per env (≥ 98.4% pooled)</a:t>
            </a:r>
          </a:p>
        </p:txBody>
      </p:sp>
      <p:sp>
        <p:nvSpPr>
          <p:cNvPr id="102" name="Rectangle 101"/>
          <p:cNvSpPr/>
          <p:nvPr/>
        </p:nvSpPr>
        <p:spPr>
          <a:xfrm>
            <a:off x="3824020" y="9015984"/>
            <a:ext cx="1678838" cy="841248"/>
          </a:xfrm>
          <a:prstGeom prst="rect">
            <a:avLst/>
          </a:prstGeom>
          <a:solidFill>
            <a:srgbClr val="FFFFFF"/>
          </a:solidFill>
          <a:ln w="12700">
            <a:solidFill>
              <a:srgbClr val="254372"/>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lIns="38100" rIns="38100"/>
          <a:lstStyle/>
          <a:p>
            <a:pPr algn="ctr"/>
            <a:r>
              <a:rPr b="1" sz="2200">
                <a:solidFill>
                  <a:srgbClr val="0C2D62"/>
                </a:solidFill>
                <a:latin typeface="Georgia"/>
              </a:rPr>
              <a:t>2.57 s</a:t>
            </a:r>
          </a:p>
          <a:p>
            <a:pPr algn="ctr"/>
            <a:r>
              <a:rPr sz="800">
                <a:solidFill>
                  <a:srgbClr val="8C95A4"/>
                </a:solidFill>
                <a:latin typeface="Arial"/>
              </a:rPr>
              <a:t>mean end-to-end latency · n = 30 · all &lt; 5 s</a:t>
            </a:r>
          </a:p>
        </p:txBody>
      </p:sp>
      <p:sp>
        <p:nvSpPr>
          <p:cNvPr id="103" name="Rectangle 102"/>
          <p:cNvSpPr/>
          <p:nvPr/>
        </p:nvSpPr>
        <p:spPr>
          <a:xfrm>
            <a:off x="5612587" y="9015984"/>
            <a:ext cx="1678838" cy="841248"/>
          </a:xfrm>
          <a:prstGeom prst="rect">
            <a:avLst/>
          </a:prstGeom>
          <a:solidFill>
            <a:srgbClr val="FFFFFF"/>
          </a:solidFill>
          <a:ln w="12700">
            <a:solidFill>
              <a:srgbClr val="254372"/>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lIns="38100" rIns="38100"/>
          <a:lstStyle/>
          <a:p>
            <a:pPr algn="ctr"/>
            <a:r>
              <a:rPr b="1" sz="2200">
                <a:solidFill>
                  <a:srgbClr val="0C2D62"/>
                </a:solidFill>
                <a:latin typeface="Georgia"/>
              </a:rPr>
              <a:t>112-bit</a:t>
            </a:r>
          </a:p>
          <a:p>
            <a:pPr algn="ctr"/>
            <a:r>
              <a:rPr sz="800">
                <a:solidFill>
                  <a:srgbClr val="8C95A4"/>
                </a:solidFill>
                <a:latin typeface="Arial"/>
              </a:rPr>
              <a:t>complete six-field payload · −57.6% vs ASCII</a:t>
            </a:r>
          </a:p>
        </p:txBody>
      </p:sp>
      <p:sp>
        <p:nvSpPr>
          <p:cNvPr id="104" name="Rectangle 103"/>
          <p:cNvSpPr/>
          <p:nvPr/>
        </p:nvSpPr>
        <p:spPr>
          <a:xfrm>
            <a:off x="7401153" y="9015984"/>
            <a:ext cx="1678838" cy="841248"/>
          </a:xfrm>
          <a:prstGeom prst="rect">
            <a:avLst/>
          </a:prstGeom>
          <a:solidFill>
            <a:srgbClr val="FFFFFF"/>
          </a:solidFill>
          <a:ln w="12700">
            <a:solidFill>
              <a:srgbClr val="254372"/>
            </a:solidFill>
          </a:ln>
        </p:spPr>
        <p:style>
          <a:lnRef idx="1">
            <a:schemeClr val="accent1"/>
          </a:lnRef>
          <a:fillRef idx="3">
            <a:schemeClr val="accent1"/>
          </a:fillRef>
          <a:effectRef idx="2">
            <a:schemeClr val="accent1"/>
          </a:effectRef>
          <a:fontRef idx="minor">
            <a:schemeClr val="lt1"/>
          </a:fontRef>
        </p:style>
        <p:txBody>
          <a:bodyPr rtlCol="0" anchor="ctr" wrap="square" tIns="38100" bIns="38100" lIns="38100" rIns="38100"/>
          <a:lstStyle/>
          <a:p>
            <a:pPr algn="ctr"/>
            <a:r>
              <a:rPr b="1" sz="2200">
                <a:solidFill>
                  <a:srgbClr val="0C2D62"/>
                </a:solidFill>
                <a:latin typeface="Georgia"/>
              </a:rPr>
              <a:t>bit-exact</a:t>
            </a:r>
          </a:p>
          <a:p>
            <a:pPr algn="ctr"/>
            <a:r>
              <a:rPr sz="800">
                <a:solidFill>
                  <a:srgbClr val="8C95A4"/>
                </a:solidFill>
                <a:latin typeface="Arial"/>
              </a:rPr>
              <a:t>decode vs ground truth · fully reproducible</a:t>
            </a:r>
          </a:p>
        </p:txBody>
      </p:sp>
      <p:sp>
        <p:nvSpPr>
          <p:cNvPr id="105" name="Rounded Rectangle 104"/>
          <p:cNvSpPr/>
          <p:nvPr/>
        </p:nvSpPr>
        <p:spPr>
          <a:xfrm>
            <a:off x="246888" y="10012680"/>
            <a:ext cx="4297680" cy="274320"/>
          </a:xfrm>
          <a:prstGeom prst="roundRect">
            <a:avLst>
              <a:gd name="adj" fmla="val 18000"/>
            </a:avLst>
          </a:prstGeom>
          <a:solidFill>
            <a:srgbClr val="254372"/>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 bIns="12700" lIns="109728"/>
          <a:lstStyle/>
          <a:p>
            <a:pPr algn="l"/>
            <a:r>
              <a:rPr b="1" sz="1100">
                <a:solidFill>
                  <a:srgbClr val="FFFFFF"/>
                </a:solidFill>
                <a:latin typeface="Georgia"/>
              </a:rPr>
              <a:t>Payload Efficiency</a:t>
            </a:r>
          </a:p>
        </p:txBody>
      </p:sp>
      <p:pic>
        <p:nvPicPr>
          <p:cNvPr id="106" name="Picture 105" descr="gap1_encoding_comparison.png"/>
          <p:cNvPicPr>
            <a:picLocks noChangeAspect="1"/>
          </p:cNvPicPr>
          <p:nvPr/>
        </p:nvPicPr>
        <p:blipFill>
          <a:blip r:embed="rId11"/>
          <a:stretch>
            <a:fillRect/>
          </a:stretch>
        </p:blipFill>
        <p:spPr>
          <a:xfrm>
            <a:off x="1113847" y="10360152"/>
            <a:ext cx="2563761" cy="1600200"/>
          </a:xfrm>
          <a:prstGeom prst="rect">
            <a:avLst/>
          </a:prstGeom>
        </p:spPr>
      </p:pic>
      <p:sp>
        <p:nvSpPr>
          <p:cNvPr id="107" name="TextBox 106"/>
          <p:cNvSpPr txBox="1"/>
          <p:nvPr/>
        </p:nvSpPr>
        <p:spPr>
          <a:xfrm>
            <a:off x="246888" y="11987784"/>
            <a:ext cx="4297680" cy="292608"/>
          </a:xfrm>
          <a:prstGeom prst="rect">
            <a:avLst/>
          </a:prstGeom>
          <a:noFill/>
        </p:spPr>
        <p:txBody>
          <a:bodyPr wrap="square">
            <a:spAutoFit/>
          </a:bodyPr>
          <a:lstStyle/>
          <a:p>
            <a:r>
              <a:rPr i="1" sz="800">
                <a:solidFill>
                  <a:srgbClr val="8C95A4"/>
                </a:solidFill>
                <a:latin typeface="Arial"/>
              </a:rPr>
              <a:t>Figure 3. 264-bit ASCII rescue record packs to 112 bits (−57.6%); bit-exact round-trip.</a:t>
            </a:r>
          </a:p>
        </p:txBody>
      </p:sp>
      <p:sp>
        <p:nvSpPr>
          <p:cNvPr id="108" name="Rounded Rectangle 107"/>
          <p:cNvSpPr/>
          <p:nvPr/>
        </p:nvSpPr>
        <p:spPr>
          <a:xfrm>
            <a:off x="4782312" y="10012680"/>
            <a:ext cx="4297680" cy="274320"/>
          </a:xfrm>
          <a:prstGeom prst="roundRect">
            <a:avLst>
              <a:gd name="adj" fmla="val 18000"/>
            </a:avLst>
          </a:prstGeom>
          <a:solidFill>
            <a:srgbClr val="254372"/>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 bIns="12700" lIns="109728"/>
          <a:lstStyle/>
          <a:p>
            <a:pPr algn="l"/>
            <a:r>
              <a:rPr b="1" sz="1100">
                <a:solidFill>
                  <a:srgbClr val="FFFFFF"/>
                </a:solidFill>
                <a:latin typeface="Georgia"/>
              </a:rPr>
              <a:t>Latency Distribution</a:t>
            </a:r>
          </a:p>
        </p:txBody>
      </p:sp>
      <p:pic>
        <p:nvPicPr>
          <p:cNvPr id="109" name="Picture 108" descr="fig_gap2_cdf.png"/>
          <p:cNvPicPr>
            <a:picLocks noChangeAspect="1"/>
          </p:cNvPicPr>
          <p:nvPr/>
        </p:nvPicPr>
        <p:blipFill>
          <a:blip r:embed="rId12"/>
          <a:stretch>
            <a:fillRect/>
          </a:stretch>
        </p:blipFill>
        <p:spPr>
          <a:xfrm>
            <a:off x="5650992" y="10360152"/>
            <a:ext cx="2560320" cy="1600200"/>
          </a:xfrm>
          <a:prstGeom prst="rect">
            <a:avLst/>
          </a:prstGeom>
        </p:spPr>
      </p:pic>
      <p:sp>
        <p:nvSpPr>
          <p:cNvPr id="110" name="TextBox 109"/>
          <p:cNvSpPr txBox="1"/>
          <p:nvPr/>
        </p:nvSpPr>
        <p:spPr>
          <a:xfrm>
            <a:off x="4782312" y="11987784"/>
            <a:ext cx="4297680" cy="292608"/>
          </a:xfrm>
          <a:prstGeom prst="rect">
            <a:avLst/>
          </a:prstGeom>
          <a:noFill/>
        </p:spPr>
        <p:txBody>
          <a:bodyPr wrap="square">
            <a:spAutoFit/>
          </a:bodyPr>
          <a:lstStyle/>
          <a:p>
            <a:r>
              <a:rPr i="1" sz="800">
                <a:solidFill>
                  <a:srgbClr val="8C95A4"/>
                </a:solidFill>
                <a:latin typeface="Arial"/>
              </a:rPr>
              <a:t>Figure 4. End-to-end latency CDF; every message under 5 s (n = 30).</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TotalTime>
  <Words>325</Words>
  <Application>Microsoft Office PowerPoint</Application>
  <PresentationFormat>Custom</PresentationFormat>
  <Paragraphs>29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Courier New</vt:lpstr>
      <vt:lpstr>Georgia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Tevin Muchera LEMALASIA</dc:creator>
  <cp:lastModifiedBy>Tevin Muchera LEMALASIA</cp:lastModifiedBy>
  <cp:revision>1</cp:revision>
  <dcterms:created xsi:type="dcterms:W3CDTF">2026-06-25T16:27:32Z</dcterms:created>
  <dcterms:modified xsi:type="dcterms:W3CDTF">2026-06-25T16:38:37Z</dcterms:modified>
</cp:coreProperties>
</file>