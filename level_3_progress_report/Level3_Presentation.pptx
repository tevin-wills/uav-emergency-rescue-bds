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problem, not the method. We needed RTK to survive a disaster zone where GNSS degrades on multiple axes at once. Headline: even under the compound disaster, RTK held mean error under 1 metre and passed the approach target. The honest gap is precision landing, which I'll come to on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input model, not a result. Real disaster zones don't fail one way at a time, so we degrade noise, correction quality and correction availability together, progressively, across the five mission phases. Peak degradation is the Search Zone over the collapse site: 2.75 m noise, 0.60 quality, and 37.5-second correction dropouts every 90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runs bracket the result: ideal baseline at 5 cm, total failure at nearly 5 m, and the compound disaster in between at under 1 m — about five times better than having no corrections. We passed the approach target comfortably. The honest finding is precision landing: we hold approach-grade accuracy but only reach the 0.3 m bar 31.5% of the time during the disaster, because we're in RTK Float, not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close: three things confirmed — graceful degradation, viable approach navigation with an honest uncertainty signal, and provably real flight data. The single open engineering gap is precision landing, and the next step is a Fixed-lock recovery protocol for the landing phase. Beyond that, Phase 3 grounds the whole noise model in real BeiDou measurements through RTKLIB.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40280"/>
            <a:ext cx="12191695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497B"/>
                </a:solidFill>
              </a:rPr>
              <a:t>Resilient RTK Positioning for Disaster Rescue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231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i="1">
                <a:solidFill>
                  <a:srgbClr val="222B33"/>
                </a:solidFill>
              </a:rPr>
              <a:t>Level 3 — RTK under a compound GNSS-degradation disaster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222B33"/>
                </a:solidFill>
              </a:rPr>
              <a:t>Mean error held to </a:t>
            </a:r>
            <a:r>
              <a:rPr sz="2200" b="1">
                <a:solidFill>
                  <a:srgbClr val="C0392B"/>
                </a:solidFill>
              </a:rPr>
              <a:t>0.968 m</a:t>
            </a:r>
            <a:r>
              <a:rPr sz="2200" b="0">
                <a:solidFill>
                  <a:srgbClr val="222B33"/>
                </a:solidFill>
              </a:rPr>
              <a:t> under disaster conditions — </a:t>
            </a:r>
            <a:r>
              <a:rPr sz="2200" b="1">
                <a:solidFill>
                  <a:srgbClr val="C0392B"/>
                </a:solidFill>
              </a:rPr>
              <a:t>5x</a:t>
            </a:r>
            <a:r>
              <a:rPr sz="2200" b="0">
                <a:solidFill>
                  <a:srgbClr val="222B33"/>
                </a:solidFill>
              </a:rPr>
              <a:t> better than total GNSS failure. Approach navigation </a:t>
            </a:r>
            <a:r>
              <a:rPr sz="2200" b="1">
                <a:solidFill>
                  <a:srgbClr val="C0392B"/>
                </a:solidFill>
              </a:rPr>
              <a:t>PASSED</a:t>
            </a:r>
            <a:r>
              <a:rPr sz="2200" b="0">
                <a:solidFill>
                  <a:srgbClr val="222B33"/>
                </a:solidFill>
              </a:rPr>
              <a:t> (92.4% within 2 m).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808080"/>
                </a:solidFill>
              </a:rPr>
              <a:t>UAV Emergency Rescue BDS  ·  RTK Positioning Module  ·  Tevin Wills  ·  2026-06-04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B"/>
                </a:solidFill>
                <a:latin typeface="Calibri"/>
              </a:rPr>
              <a:t>The compound disaster we designed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74552" cy="31750"/>
          </a:xfrm>
          <a:prstGeom prst="rect">
            <a:avLst/>
          </a:prstGeom>
          <a:solidFill>
            <a:srgbClr val="1F4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3_compound_scenario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841" y="1234440"/>
            <a:ext cx="9634012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36208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B33"/>
                </a:solidFill>
                <a:latin typeface="Calibri"/>
              </a:rPr>
              <a:t>Three co-occurring degradations: noise </a:t>
            </a:r>
            <a:r>
              <a:rPr sz="1800" b="1">
                <a:solidFill>
                  <a:srgbClr val="C0392B"/>
                </a:solidFill>
                <a:latin typeface="Calibri"/>
              </a:rPr>
              <a:t>1.5 -&gt; 2.75 m</a:t>
            </a:r>
            <a:r>
              <a:rPr sz="1800" b="0">
                <a:solidFill>
                  <a:srgbClr val="222B33"/>
                </a:solidFill>
                <a:latin typeface="Calibri"/>
              </a:rPr>
              <a:t>,  quality </a:t>
            </a:r>
            <a:r>
              <a:rPr sz="1800" b="1">
                <a:solidFill>
                  <a:srgbClr val="C0392B"/>
                </a:solidFill>
                <a:latin typeface="Calibri"/>
              </a:rPr>
              <a:t>0.95 -&gt; 0.60</a:t>
            </a:r>
            <a:r>
              <a:rPr sz="1800" b="0">
                <a:solidFill>
                  <a:srgbClr val="222B33"/>
                </a:solidFill>
                <a:latin typeface="Calibri"/>
              </a:rPr>
              <a:t>,  dropouts </a:t>
            </a:r>
            <a:r>
              <a:rPr sz="1800" b="1">
                <a:solidFill>
                  <a:srgbClr val="C0392B"/>
                </a:solidFill>
                <a:latin typeface="Calibri"/>
              </a:rPr>
              <a:t>37.5 s / 90 s</a:t>
            </a:r>
            <a:r>
              <a:rPr sz="1800" b="0">
                <a:solidFill>
                  <a:srgbClr val="222B33"/>
                </a:solidFill>
                <a:latin typeface="Calibri"/>
              </a:rPr>
              <a:t>  across 5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B"/>
                </a:solidFill>
                <a:latin typeface="Calibri"/>
              </a:rPr>
              <a:t>What we confirmed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74552" cy="31750"/>
          </a:xfrm>
          <a:prstGeom prst="rect">
            <a:avLst/>
          </a:prstGeom>
          <a:solidFill>
            <a:srgbClr val="1F4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3_three_ru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78" y="1234440"/>
            <a:ext cx="9810937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0352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222B33"/>
                </a:solidFill>
                <a:latin typeface="Calibri"/>
              </a:rPr>
              <a:t>• Graceful degradation: compound </a:t>
            </a:r>
            <a:r>
              <a:rPr sz="1800" b="1">
                <a:solidFill>
                  <a:srgbClr val="1F497B"/>
                </a:solidFill>
                <a:latin typeface="Calibri"/>
              </a:rPr>
              <a:t>0.968 m</a:t>
            </a:r>
            <a:r>
              <a:rPr sz="1800">
                <a:solidFill>
                  <a:srgbClr val="222B33"/>
                </a:solidFill>
                <a:latin typeface="Calibri"/>
              </a:rPr>
              <a:t> vs total failure </a:t>
            </a:r>
            <a:r>
              <a:rPr sz="1800" b="1">
                <a:solidFill>
                  <a:srgbClr val="1F497B"/>
                </a:solidFill>
                <a:latin typeface="Calibri"/>
              </a:rPr>
              <a:t>4.776 m</a:t>
            </a:r>
            <a:r>
              <a:rPr sz="1800">
                <a:solidFill>
                  <a:srgbClr val="222B33"/>
                </a:solidFill>
                <a:latin typeface="Calibri"/>
              </a:rPr>
              <a:t>  (~</a:t>
            </a:r>
            <a:r>
              <a:rPr sz="1800" b="1">
                <a:solidFill>
                  <a:srgbClr val="1F497B"/>
                </a:solidFill>
                <a:latin typeface="Calibri"/>
              </a:rPr>
              <a:t>5x</a:t>
            </a:r>
            <a:r>
              <a:rPr sz="1800">
                <a:solidFill>
                  <a:srgbClr val="222B33"/>
                </a:solidFill>
                <a:latin typeface="Calibri"/>
              </a:rPr>
              <a:t> better)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B33"/>
                </a:solidFill>
                <a:latin typeface="Calibri"/>
              </a:rPr>
              <a:t>• Approach navigation </a:t>
            </a:r>
            <a:r>
              <a:rPr sz="1800" b="1">
                <a:solidFill>
                  <a:srgbClr val="1F497B"/>
                </a:solidFill>
                <a:latin typeface="Calibri"/>
              </a:rPr>
              <a:t>PASSED</a:t>
            </a:r>
            <a:r>
              <a:rPr sz="1800">
                <a:solidFill>
                  <a:srgbClr val="222B33"/>
                </a:solidFill>
                <a:latin typeface="Calibri"/>
              </a:rPr>
              <a:t> — </a:t>
            </a:r>
            <a:r>
              <a:rPr sz="1800" b="1">
                <a:solidFill>
                  <a:srgbClr val="1F497B"/>
                </a:solidFill>
                <a:latin typeface="Calibri"/>
              </a:rPr>
              <a:t>92.4%</a:t>
            </a:r>
            <a:r>
              <a:rPr sz="1800">
                <a:solidFill>
                  <a:srgbClr val="222B33"/>
                </a:solidFill>
                <a:latin typeface="Calibri"/>
              </a:rPr>
              <a:t> within 2.0 m (target 90%)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22B33"/>
                </a:solidFill>
                <a:latin typeface="Calibri"/>
              </a:rPr>
              <a:t>• Precision landing </a:t>
            </a:r>
            <a:r>
              <a:rPr sz="1800" b="1">
                <a:solidFill>
                  <a:srgbClr val="1F497B"/>
                </a:solidFill>
                <a:latin typeface="Calibri"/>
              </a:rPr>
              <a:t>FELL SHORT</a:t>
            </a:r>
            <a:r>
              <a:rPr sz="1800">
                <a:solidFill>
                  <a:srgbClr val="222B33"/>
                </a:solidFill>
                <a:latin typeface="Calibri"/>
              </a:rPr>
              <a:t> — </a:t>
            </a:r>
            <a:r>
              <a:rPr sz="1800" b="1">
                <a:solidFill>
                  <a:srgbClr val="1F497B"/>
                </a:solidFill>
                <a:latin typeface="Calibri"/>
              </a:rPr>
              <a:t>31.5%</a:t>
            </a:r>
            <a:r>
              <a:rPr sz="1800">
                <a:solidFill>
                  <a:srgbClr val="222B33"/>
                </a:solidFill>
                <a:latin typeface="Calibri"/>
              </a:rPr>
              <a:t> within 0.3 m (target 80%)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B"/>
                </a:solidFill>
                <a:latin typeface="Calibri"/>
              </a:rPr>
              <a:t>Takeaway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11274552" cy="31750"/>
          </a:xfrm>
          <a:prstGeom prst="rect">
            <a:avLst/>
          </a:prstGeom>
          <a:solidFill>
            <a:srgbClr val="1F4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7AE60"/>
                </a:solidFill>
              </a:rPr>
              <a:t>Confirmed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22B33"/>
                </a:solidFill>
              </a:rPr>
              <a:t>• RTK degrades gracefully — usable accuracy under sustained degradation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22B33"/>
                </a:solidFill>
              </a:rPr>
              <a:t>• Approach viable (92.4%) + honest, dynamic uncertainty + correct viability states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22B33"/>
                </a:solidFill>
              </a:rPr>
              <a:t>• Data proven real — PX4 ULog and analysis CSV agree on the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392B"/>
                </a:solidFill>
              </a:rPr>
              <a:t>Next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22B33"/>
                </a:solidFill>
              </a:rPr>
              <a:t>• Close the landing gap — RTK Fixed re-lock / re-convergence in the landing phase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22B33"/>
                </a:solidFill>
              </a:rPr>
              <a:t>• Re-fly both runs with one identical mission for strict comparability</a:t>
            </a: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222B33"/>
                </a:solidFill>
              </a:rPr>
              <a:t>• Phase 3 — validate the noise model against real BeiDou data via RTKLIB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